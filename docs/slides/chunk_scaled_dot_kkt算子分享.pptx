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9" r:id="rId4"/>
    <p:sldId id="16776926" r:id="rId5"/>
    <p:sldId id="16776927" r:id="rId6"/>
    <p:sldId id="16776928" r:id="rId7"/>
    <p:sldId id="16776929" r:id="rId8"/>
    <p:sldId id="16776930" r:id="rId9"/>
    <p:sldId id="16776931" r:id="rId10"/>
    <p:sldId id="16776932" r:id="rId11"/>
    <p:sldId id="16776933" r:id="rId12"/>
    <p:sldId id="16776934" r:id="rId13"/>
    <p:sldId id="264" r:id="rId14"/>
    <p:sldId id="16776935" r:id="rId15"/>
    <p:sldId id="16776936" r:id="rId16"/>
    <p:sldId id="16776937" r:id="rId17"/>
    <p:sldId id="16776938" r:id="rId18"/>
    <p:sldId id="16776939" r:id="rId19"/>
    <p:sldId id="16776940" r:id="rId20"/>
    <p:sldId id="16776941" r:id="rId21"/>
    <p:sldId id="16776942" r:id="rId22"/>
    <p:sldId id="16776943" r:id="rId23"/>
    <p:sldId id="16776944" r:id="rId24"/>
    <p:sldId id="16776945" r:id="rId25"/>
    <p:sldId id="16776946" r:id="rId26"/>
    <p:sldId id="16776947" r:id="rId27"/>
    <p:sldId id="16776925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660"/>
  </p:normalViewPr>
  <p:slideViewPr>
    <p:cSldViewPr snapToGrid="0">
      <p:cViewPr varScale="1">
        <p:scale>
          <a:sx n="89" d="100"/>
          <a:sy n="89" d="100"/>
        </p:scale>
        <p:origin x="168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0F305-C8F8-5E4D-A2D5-4E66E4990415}" type="datetimeFigureOut">
              <a:rPr kumimoji="1" lang="zh-CN" altLang="en-US" smtClean="0"/>
              <a:t>2026/9/11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575E7-AEF5-FA40-8B02-0C7B2B959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1781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81311-837E-CF4D-B548-5EDFE4F3CD9B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0614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0BAFC-7326-4899-9BEC-7E31906EAAB6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code.com/cann/cann-ops-competitions" TargetMode="External"/><Relationship Id="rId3" Type="http://schemas.openxmlformats.org/officeDocument/2006/relationships/hyperlink" Target="https://gitcode.com/cann/ops-transformer" TargetMode="External"/><Relationship Id="rId7" Type="http://schemas.openxmlformats.org/officeDocument/2006/relationships/hyperlink" Target="https://gitcode.com/cann/cann-sample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code.com/cann/cann-learning-hub" TargetMode="External"/><Relationship Id="rId5" Type="http://schemas.openxmlformats.org/officeDocument/2006/relationships/hyperlink" Target="https://gitcode.com/cann/ops-math" TargetMode="External"/><Relationship Id="rId4" Type="http://schemas.openxmlformats.org/officeDocument/2006/relationships/hyperlink" Target="https://gitcode.com/cann/ops-nn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09466" y="1294112"/>
            <a:ext cx="63862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Chunk_Scaled_Dot_KKt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算子开发和优化分享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71CB31-F088-DC07-6C69-DC7996CA0BFA}"/>
              </a:ext>
            </a:extLst>
          </p:cNvPr>
          <p:cNvSpPr txBox="1"/>
          <p:nvPr/>
        </p:nvSpPr>
        <p:spPr>
          <a:xfrm>
            <a:off x="4777648" y="3244334"/>
            <a:ext cx="2636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分享人：赵润田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47073" y="2601035"/>
            <a:ext cx="3380868" cy="83574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  <a:sym typeface="微软雅黑" panose="020B0503020204020204" pitchFamily="34" charset="-122"/>
              </a:rPr>
              <a:t>目录</a:t>
            </a:r>
          </a:p>
        </p:txBody>
      </p:sp>
      <p:sp>
        <p:nvSpPr>
          <p:cNvPr id="12" name="矩形 11"/>
          <p:cNvSpPr/>
          <p:nvPr/>
        </p:nvSpPr>
        <p:spPr>
          <a:xfrm>
            <a:off x="5157696" y="838712"/>
            <a:ext cx="4483260" cy="596075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US" altLang="zh-CN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Part 1</a:t>
            </a:r>
            <a:r>
              <a:rPr lang="zh-CN" altLang="en-US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 算子功能和公式</a:t>
            </a:r>
            <a:r>
              <a:rPr lang="en-US" altLang="zh-CN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 </a:t>
            </a:r>
            <a:endParaRPr lang="zh-CN" altLang="en-US" sz="2400" kern="0" dirty="0">
              <a:solidFill>
                <a:schemeClr val="bg1"/>
              </a:solidFill>
              <a:latin typeface="微软雅黑" panose="020B0503020204020204" pitchFamily="34" charset="-122"/>
              <a:ea typeface="微软雅黑"/>
            </a:endParaRPr>
          </a:p>
        </p:txBody>
      </p:sp>
      <p:cxnSp>
        <p:nvCxnSpPr>
          <p:cNvPr id="15" name="í$ľidè"/>
          <p:cNvCxnSpPr/>
          <p:nvPr/>
        </p:nvCxnSpPr>
        <p:spPr>
          <a:xfrm>
            <a:off x="3956272" y="1890392"/>
            <a:ext cx="0" cy="2769071"/>
          </a:xfrm>
          <a:prstGeom prst="line">
            <a:avLst/>
          </a:prstGeom>
          <a:solidFill>
            <a:srgbClr val="FFCC00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183AE1-8E43-9417-A187-B3F06F593AE2}"/>
              </a:ext>
            </a:extLst>
          </p:cNvPr>
          <p:cNvSpPr/>
          <p:nvPr/>
        </p:nvSpPr>
        <p:spPr>
          <a:xfrm>
            <a:off x="5157696" y="1892604"/>
            <a:ext cx="4483260" cy="596075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US" altLang="zh-CN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Part 2</a:t>
            </a:r>
            <a:r>
              <a:rPr lang="zh-CN" altLang="en-US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 算子实现</a:t>
            </a:r>
            <a:r>
              <a:rPr lang="en-US" altLang="zh-CN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 </a:t>
            </a:r>
            <a:endParaRPr lang="zh-CN" altLang="en-US" sz="2400" kern="0" dirty="0">
              <a:solidFill>
                <a:schemeClr val="bg1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C324A2-E1FD-7600-19CD-FD002DD79BC2}"/>
              </a:ext>
            </a:extLst>
          </p:cNvPr>
          <p:cNvSpPr/>
          <p:nvPr/>
        </p:nvSpPr>
        <p:spPr>
          <a:xfrm>
            <a:off x="5157696" y="2946496"/>
            <a:ext cx="4483260" cy="596075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US" altLang="zh-CN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Part 3</a:t>
            </a:r>
            <a:r>
              <a:rPr lang="zh-CN" altLang="en-US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 算子性能优化</a:t>
            </a:r>
            <a:r>
              <a:rPr lang="en-US" altLang="zh-CN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 </a:t>
            </a:r>
            <a:endParaRPr lang="zh-CN" altLang="en-US" sz="2400" kern="0" dirty="0">
              <a:solidFill>
                <a:schemeClr val="bg1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96B87B-60AA-FF98-B8C9-5EE7F63D714F}"/>
              </a:ext>
            </a:extLst>
          </p:cNvPr>
          <p:cNvSpPr/>
          <p:nvPr/>
        </p:nvSpPr>
        <p:spPr>
          <a:xfrm>
            <a:off x="5157696" y="4000388"/>
            <a:ext cx="4483260" cy="596075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US" altLang="zh-CN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Part 4</a:t>
            </a:r>
            <a:r>
              <a:rPr lang="zh-CN" altLang="en-US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 算子瓶颈分析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AAADC3-314F-D70E-45FE-A1C484342F53}"/>
              </a:ext>
            </a:extLst>
          </p:cNvPr>
          <p:cNvSpPr/>
          <p:nvPr/>
        </p:nvSpPr>
        <p:spPr>
          <a:xfrm>
            <a:off x="5157696" y="5054280"/>
            <a:ext cx="4483260" cy="596075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US" altLang="zh-CN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Part 5</a:t>
            </a:r>
            <a:r>
              <a:rPr lang="zh-CN" altLang="en-US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 一些反馈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C4FD1B3-53DA-FE4B-2F88-D882D27C56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22" b="11000"/>
          <a:stretch>
            <a:fillRect/>
          </a:stretch>
        </p:blipFill>
        <p:spPr>
          <a:xfrm>
            <a:off x="2167419" y="929689"/>
            <a:ext cx="7200900" cy="1538833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73DF7561-10C9-E08F-D806-C510D3DF3FB0}"/>
              </a:ext>
            </a:extLst>
          </p:cNvPr>
          <p:cNvSpPr txBox="1">
            <a:spLocks/>
          </p:cNvSpPr>
          <p:nvPr/>
        </p:nvSpPr>
        <p:spPr>
          <a:xfrm>
            <a:off x="-798536" y="120126"/>
            <a:ext cx="6351733" cy="809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一、算子功能和公式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1BC66E-E299-DF7F-D1E6-D014A63DDE35}"/>
              </a:ext>
            </a:extLst>
          </p:cNvPr>
          <p:cNvSpPr txBox="1"/>
          <p:nvPr/>
        </p:nvSpPr>
        <p:spPr>
          <a:xfrm>
            <a:off x="736600" y="14496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算子公式：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B9AD17-057D-A53C-B32C-E87D9E2927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5" r="1"/>
          <a:stretch>
            <a:fillRect/>
          </a:stretch>
        </p:blipFill>
        <p:spPr>
          <a:xfrm>
            <a:off x="3316282" y="2789709"/>
            <a:ext cx="4473830" cy="384751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B368DBF-215F-275C-D693-D16763A5FBFA}"/>
              </a:ext>
            </a:extLst>
          </p:cNvPr>
          <p:cNvSpPr txBox="1"/>
          <p:nvPr/>
        </p:nvSpPr>
        <p:spPr>
          <a:xfrm>
            <a:off x="736600" y="2959869"/>
            <a:ext cx="3028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算数流程示意：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CB026-A7F2-B08B-A618-F95DCBAC3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82439A1-7535-885B-AA88-9F03B1A525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74C6896C-4FB1-C9AD-6084-C5618C4D9765}"/>
              </a:ext>
            </a:extLst>
          </p:cNvPr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BB09979-B4D8-FF7F-6ADF-0BEA1DBDB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830"/>
            <a:ext cx="6452417" cy="366537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248F384-8538-CB76-2904-79DDA7548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51169"/>
            <a:ext cx="6010457" cy="16760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CF92160-AA95-76C3-55AE-F98F79D8118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571" r="5156" b="1811"/>
          <a:stretch>
            <a:fillRect/>
          </a:stretch>
        </p:blipFill>
        <p:spPr>
          <a:xfrm>
            <a:off x="0" y="5427236"/>
            <a:ext cx="3596640" cy="113514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83F05B9-ED13-14C0-8DAD-D05CC23F7CF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41" r="6355" b="7794"/>
          <a:stretch>
            <a:fillRect/>
          </a:stretch>
        </p:blipFill>
        <p:spPr>
          <a:xfrm>
            <a:off x="5543949" y="747976"/>
            <a:ext cx="6648051" cy="106758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58A8007-AFAA-0E68-E659-40BF695F4DD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40" t="323" r="21797" b="1957"/>
          <a:stretch>
            <a:fillRect/>
          </a:stretch>
        </p:blipFill>
        <p:spPr>
          <a:xfrm>
            <a:off x="5543949" y="2931789"/>
            <a:ext cx="6754732" cy="211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84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4F824-384B-B0EF-BFBA-9C15B709C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4B8604F-BD53-61A5-53B3-631B81B552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03BAAD8-F538-FCBD-1E9D-BEF5F5820265}"/>
              </a:ext>
            </a:extLst>
          </p:cNvPr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pic>
        <p:nvPicPr>
          <p:cNvPr id="2" name="图片 1" descr="图形用户界面, 表格&#10;&#10;AI 生成的内容可能不正确。">
            <a:extLst>
              <a:ext uri="{FF2B5EF4-FFF2-40B4-BE49-F238E27FC236}">
                <a16:creationId xmlns:a16="http://schemas.microsoft.com/office/drawing/2014/main" id="{0869DEE4-543A-DFB1-5A7F-C0FA0F8AE0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865371"/>
            <a:ext cx="12192000" cy="3955932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1978DEC0-0D98-827D-5B6D-48A9771145AA}"/>
              </a:ext>
            </a:extLst>
          </p:cNvPr>
          <p:cNvSpPr txBox="1">
            <a:spLocks/>
          </p:cNvSpPr>
          <p:nvPr/>
        </p:nvSpPr>
        <p:spPr>
          <a:xfrm>
            <a:off x="620201" y="481325"/>
            <a:ext cx="6388351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一、算子功能和公式：具体输入和输出</a:t>
            </a:r>
          </a:p>
        </p:txBody>
      </p:sp>
    </p:spTree>
    <p:extLst>
      <p:ext uri="{BB962C8B-B14F-4D97-AF65-F5344CB8AC3E}">
        <p14:creationId xmlns:p14="http://schemas.microsoft.com/office/powerpoint/2010/main" val="1470786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52F84-6243-9297-3772-672D8AA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41CE609-E8B4-0FD1-7AF9-7E22CD829A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26203771-4527-8B56-5025-A4AF0F28C254}"/>
              </a:ext>
            </a:extLst>
          </p:cNvPr>
          <p:cNvSpPr txBox="1">
            <a:spLocks/>
          </p:cNvSpPr>
          <p:nvPr/>
        </p:nvSpPr>
        <p:spPr>
          <a:xfrm>
            <a:off x="620201" y="481325"/>
            <a:ext cx="6388351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一、算子功能和公式：输入约束（范围）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199B82-E83B-2E1C-B581-E4BD361A10CF}"/>
              </a:ext>
            </a:extLst>
          </p:cNvPr>
          <p:cNvSpPr txBox="1"/>
          <p:nvPr/>
        </p:nvSpPr>
        <p:spPr>
          <a:xfrm>
            <a:off x="602456" y="1196186"/>
            <a:ext cx="1098470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effectLst/>
                <a:latin typeface="PingFang SC"/>
              </a:rPr>
              <a:t>参数解释</a:t>
            </a:r>
            <a:endParaRPr lang="zh-CN" altLang="en-US" sz="2000" b="0" i="0" dirty="0">
              <a:effectLst/>
              <a:latin typeface="PingFang S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>
                <a:effectLst/>
                <a:latin typeface="PingFang SC"/>
              </a:rPr>
              <a:t>B</a:t>
            </a:r>
            <a:r>
              <a:rPr lang="zh-CN" altLang="en" sz="2000" b="0" i="0" dirty="0">
                <a:effectLst/>
                <a:latin typeface="PingFang SC"/>
              </a:rPr>
              <a:t>：</a:t>
            </a:r>
            <a:r>
              <a:rPr lang="zh-CN" altLang="en-US" sz="2000" b="0" i="0" dirty="0">
                <a:effectLst/>
                <a:latin typeface="PingFang SC"/>
              </a:rPr>
              <a:t>批次大小，当前</a:t>
            </a:r>
            <a:r>
              <a:rPr lang="en" altLang="zh-CN" sz="2000" b="0" i="0" dirty="0">
                <a:effectLst/>
                <a:latin typeface="PingFang SC"/>
              </a:rPr>
              <a:t>B=1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>
                <a:effectLst/>
                <a:latin typeface="PingFang SC"/>
              </a:rPr>
              <a:t>T</a:t>
            </a:r>
            <a:r>
              <a:rPr lang="zh-CN" altLang="en" sz="2000" b="0" i="0" dirty="0">
                <a:effectLst/>
                <a:latin typeface="PingFang SC"/>
              </a:rPr>
              <a:t>：</a:t>
            </a:r>
            <a:r>
              <a:rPr lang="zh-CN" altLang="en-US" sz="2000" b="0" i="0" dirty="0">
                <a:effectLst/>
                <a:latin typeface="PingFang SC"/>
              </a:rPr>
              <a:t>序列长度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>
                <a:effectLst/>
                <a:latin typeface="PingFang SC"/>
              </a:rPr>
              <a:t>H</a:t>
            </a:r>
            <a:r>
              <a:rPr lang="zh-CN" altLang="en" sz="2000" b="0" i="0" dirty="0">
                <a:effectLst/>
                <a:latin typeface="PingFang SC"/>
              </a:rPr>
              <a:t>：</a:t>
            </a:r>
            <a:r>
              <a:rPr lang="zh-CN" altLang="en-US" sz="2000" b="0" i="0" dirty="0">
                <a:effectLst/>
                <a:latin typeface="PingFang SC"/>
              </a:rPr>
              <a:t>多头注意力中的头数</a:t>
            </a:r>
            <a:r>
              <a:rPr lang="en-US" altLang="zh-CN" sz="2000" b="0" i="0" dirty="0">
                <a:effectLst/>
                <a:latin typeface="PingFang SC"/>
              </a:rPr>
              <a:t> (</a:t>
            </a:r>
            <a:r>
              <a:rPr lang="zh-CN" altLang="en-US" sz="2000" b="0" i="0" dirty="0">
                <a:effectLst/>
                <a:latin typeface="PingFang SC"/>
              </a:rPr>
              <a:t>有多少组不同的 </a:t>
            </a:r>
            <a:r>
              <a:rPr lang="en-US" altLang="zh-CN" sz="2000" b="0" i="0" dirty="0">
                <a:effectLst/>
                <a:latin typeface="PingFang SC"/>
              </a:rPr>
              <a:t>beta</a:t>
            </a:r>
            <a:r>
              <a:rPr lang="zh-CN" altLang="en-US" sz="2000" b="0" i="0" dirty="0">
                <a:effectLst/>
                <a:latin typeface="PingFang SC"/>
              </a:rPr>
              <a:t> 以及 </a:t>
            </a:r>
            <a:r>
              <a:rPr lang="en-US" altLang="zh-CN" sz="2000" b="0" i="0" dirty="0" err="1">
                <a:effectLst/>
                <a:latin typeface="PingFang SC"/>
              </a:rPr>
              <a:t>g_cumsum</a:t>
            </a:r>
            <a:r>
              <a:rPr lang="en-US" altLang="zh-CN" sz="2000" b="0" i="0" dirty="0">
                <a:effectLst/>
                <a:latin typeface="PingFang SC"/>
              </a:rPr>
              <a:t>)</a:t>
            </a:r>
            <a:endParaRPr lang="zh-CN" altLang="en-US" sz="2000" b="0" i="0" dirty="0">
              <a:effectLst/>
              <a:latin typeface="PingFang S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>
                <a:effectLst/>
                <a:latin typeface="PingFang SC"/>
              </a:rPr>
              <a:t>Hg</a:t>
            </a:r>
            <a:r>
              <a:rPr lang="zh-CN" altLang="en" sz="2000" b="0" i="0" dirty="0">
                <a:effectLst/>
                <a:latin typeface="PingFang SC"/>
              </a:rPr>
              <a:t>：</a:t>
            </a:r>
            <a:r>
              <a:rPr lang="zh-CN" altLang="en-US" sz="2000" b="0" i="0" dirty="0">
                <a:effectLst/>
                <a:latin typeface="PingFang SC"/>
              </a:rPr>
              <a:t>多头注意力分组数（有多少组不同的</a:t>
            </a:r>
            <a:r>
              <a:rPr lang="en-US" altLang="zh-CN" sz="2000" b="0" i="0" dirty="0">
                <a:effectLst/>
                <a:latin typeface="PingFang SC"/>
              </a:rPr>
              <a:t>K</a:t>
            </a:r>
            <a:r>
              <a:rPr lang="zh-CN" altLang="en-US" sz="2000" b="0" i="0" dirty="0">
                <a:effectLst/>
                <a:latin typeface="PingFang SC"/>
              </a:rPr>
              <a:t>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>
                <a:effectLst/>
                <a:latin typeface="PingFang SC"/>
              </a:rPr>
              <a:t>BT</a:t>
            </a:r>
            <a:r>
              <a:rPr lang="zh-CN" altLang="en" sz="2000" b="0" i="0" dirty="0">
                <a:effectLst/>
                <a:latin typeface="PingFang SC"/>
              </a:rPr>
              <a:t>：</a:t>
            </a:r>
            <a:r>
              <a:rPr lang="zh-CN" altLang="en-US" sz="2000" b="0" i="0" dirty="0">
                <a:effectLst/>
                <a:latin typeface="PingFang SC"/>
              </a:rPr>
              <a:t>分块大小</a:t>
            </a:r>
            <a:r>
              <a:rPr lang="en" altLang="zh-CN" sz="2000" b="0" i="0" dirty="0" err="1">
                <a:effectLst/>
                <a:latin typeface="PingFang SC"/>
              </a:rPr>
              <a:t>chunk_size</a:t>
            </a:r>
            <a:r>
              <a:rPr lang="zh-CN" altLang="en" sz="2000" b="0" i="0" dirty="0">
                <a:effectLst/>
                <a:latin typeface="PingFang SC"/>
              </a:rPr>
              <a:t>，</a:t>
            </a:r>
            <a:r>
              <a:rPr lang="zh-CN" altLang="en-US" sz="2000" b="0" i="0" dirty="0">
                <a:effectLst/>
                <a:latin typeface="PingFang SC"/>
              </a:rPr>
              <a:t>当前</a:t>
            </a:r>
            <a:r>
              <a:rPr lang="en" altLang="zh-CN" sz="2000" b="0" i="0" dirty="0">
                <a:effectLst/>
                <a:latin typeface="PingFang SC"/>
              </a:rPr>
              <a:t>BT=64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>
                <a:effectLst/>
                <a:latin typeface="PingFang SC"/>
              </a:rPr>
              <a:t>K</a:t>
            </a:r>
            <a:r>
              <a:rPr lang="zh-CN" altLang="en" sz="2000" b="0" i="0" dirty="0">
                <a:effectLst/>
                <a:latin typeface="PingFang SC"/>
              </a:rPr>
              <a:t>：</a:t>
            </a:r>
            <a:r>
              <a:rPr lang="zh-CN" altLang="en-US" sz="2000" b="0" i="0" dirty="0">
                <a:effectLst/>
                <a:latin typeface="PingFang SC"/>
              </a:rPr>
              <a:t>每个注意力头的键向量维度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>
                <a:effectLst/>
                <a:latin typeface="PingFang SC"/>
              </a:rPr>
              <a:t>NT</a:t>
            </a:r>
            <a:r>
              <a:rPr lang="zh-CN" altLang="en" sz="2000" b="0" i="0" dirty="0">
                <a:effectLst/>
                <a:latin typeface="PingFang SC"/>
              </a:rPr>
              <a:t>：</a:t>
            </a:r>
            <a:r>
              <a:rPr lang="zh-CN" altLang="en-US" sz="2000" b="0" i="0" dirty="0">
                <a:effectLst/>
                <a:latin typeface="PingFang SC"/>
              </a:rPr>
              <a:t>序列</a:t>
            </a:r>
            <a:r>
              <a:rPr lang="en" altLang="zh-CN" sz="2000" b="0" i="0" dirty="0">
                <a:effectLst/>
                <a:latin typeface="PingFang SC"/>
              </a:rPr>
              <a:t>chunk</a:t>
            </a:r>
            <a:r>
              <a:rPr lang="zh-CN" altLang="en-US" sz="2000" b="0" i="0" dirty="0">
                <a:effectLst/>
                <a:latin typeface="PingFang SC"/>
              </a:rPr>
              <a:t>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 err="1">
                <a:effectLst/>
                <a:latin typeface="PingFang SC"/>
              </a:rPr>
              <a:t>chunk_offsets</a:t>
            </a:r>
            <a:r>
              <a:rPr lang="en" altLang="zh-CN" sz="2000" b="0" i="0" dirty="0">
                <a:effectLst/>
                <a:latin typeface="PingFang SC"/>
              </a:rPr>
              <a:t>: </a:t>
            </a:r>
            <a:r>
              <a:rPr lang="zh-CN" altLang="en-US" sz="2000" b="0" i="0" dirty="0">
                <a:effectLst/>
                <a:latin typeface="PingFang SC"/>
              </a:rPr>
              <a:t>分块索引列表，如 </a:t>
            </a:r>
            <a:r>
              <a:rPr lang="en-US" altLang="zh-CN" sz="2000" b="0" i="0" dirty="0">
                <a:effectLst/>
                <a:latin typeface="PingFang SC"/>
              </a:rPr>
              <a:t>[0, 64, 128, ..., </a:t>
            </a:r>
            <a:r>
              <a:rPr lang="en" altLang="zh-CN" sz="2000" b="0" i="0" dirty="0">
                <a:effectLst/>
                <a:latin typeface="PingFang SC"/>
              </a:rPr>
              <a:t>T]</a:t>
            </a:r>
            <a:r>
              <a:rPr lang="zh-CN" altLang="en" sz="2000" b="0" i="0" dirty="0">
                <a:effectLst/>
                <a:latin typeface="PingFang SC"/>
              </a:rPr>
              <a:t>，</a:t>
            </a:r>
            <a:r>
              <a:rPr lang="zh-CN" altLang="en-US" sz="2000" b="0" i="0" dirty="0">
                <a:effectLst/>
                <a:latin typeface="PingFang SC"/>
              </a:rPr>
              <a:t>单调递增且递增大小</a:t>
            </a:r>
            <a:r>
              <a:rPr lang="en-US" altLang="zh-CN" sz="2000" b="0" i="0" dirty="0">
                <a:effectLst/>
                <a:latin typeface="PingFang SC"/>
              </a:rPr>
              <a:t>&lt;= </a:t>
            </a:r>
            <a:r>
              <a:rPr lang="en" altLang="zh-CN" sz="2000" b="0" i="0" dirty="0">
                <a:effectLst/>
                <a:latin typeface="PingFang SC"/>
              </a:rPr>
              <a:t>BT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effectLst/>
                <a:latin typeface="PingFang SC"/>
              </a:rPr>
              <a:t>维度取值范围</a:t>
            </a:r>
            <a:r>
              <a:rPr lang="en-US" altLang="zh-CN" sz="2000" b="1" i="0" dirty="0">
                <a:effectLst/>
                <a:latin typeface="PingFang SC"/>
              </a:rPr>
              <a:t>(</a:t>
            </a:r>
            <a:r>
              <a:rPr lang="zh-CN" altLang="en-US" sz="2000" b="1" i="0" dirty="0">
                <a:effectLst/>
                <a:latin typeface="PingFang SC"/>
              </a:rPr>
              <a:t>均为正整数</a:t>
            </a:r>
            <a:r>
              <a:rPr lang="en-US" altLang="zh-CN" sz="2000" b="1" i="0" dirty="0">
                <a:effectLst/>
                <a:latin typeface="PingFang SC"/>
              </a:rPr>
              <a:t>)</a:t>
            </a:r>
            <a:r>
              <a:rPr lang="en-US" altLang="zh-CN" sz="2000" b="0" i="0" dirty="0">
                <a:effectLst/>
                <a:latin typeface="PingFang SC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>
                <a:effectLst/>
                <a:latin typeface="PingFang SC"/>
              </a:rPr>
              <a:t>B</a:t>
            </a:r>
            <a:r>
              <a:rPr lang="zh-CN" altLang="en" sz="2000" b="0" i="0" dirty="0">
                <a:effectLst/>
                <a:latin typeface="PingFang SC"/>
              </a:rPr>
              <a:t>：</a:t>
            </a:r>
            <a:r>
              <a:rPr lang="en" altLang="zh-CN" sz="2000" b="0" i="0" dirty="0">
                <a:effectLst/>
                <a:latin typeface="PingFang SC"/>
              </a:rPr>
              <a:t>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>
                <a:effectLst/>
                <a:latin typeface="PingFang SC"/>
              </a:rPr>
              <a:t>T</a:t>
            </a:r>
            <a:r>
              <a:rPr lang="zh-CN" altLang="en" sz="2000" b="0" i="0" dirty="0">
                <a:effectLst/>
                <a:latin typeface="PingFang SC"/>
              </a:rPr>
              <a:t>：</a:t>
            </a:r>
            <a:r>
              <a:rPr lang="zh-CN" altLang="en-US" sz="2000" b="0" i="0" dirty="0">
                <a:effectLst/>
                <a:latin typeface="PingFang SC"/>
              </a:rPr>
              <a:t>包含序列个数</a:t>
            </a:r>
            <a:r>
              <a:rPr lang="en-US" altLang="zh-CN" sz="2000" b="0" i="0" dirty="0">
                <a:effectLst/>
                <a:latin typeface="PingFang SC"/>
              </a:rPr>
              <a:t>[1,4]</a:t>
            </a:r>
            <a:r>
              <a:rPr lang="zh-CN" altLang="en-US" sz="2000" b="0" i="0" dirty="0">
                <a:effectLst/>
                <a:latin typeface="PingFang SC"/>
              </a:rPr>
              <a:t>，单个序列长度</a:t>
            </a:r>
            <a:r>
              <a:rPr lang="en-US" altLang="zh-CN" sz="2000" b="0" i="0" dirty="0">
                <a:effectLst/>
                <a:latin typeface="PingFang SC"/>
              </a:rPr>
              <a:t>[1</a:t>
            </a:r>
            <a:r>
              <a:rPr lang="en" altLang="zh-CN" sz="2000" b="0" i="0" dirty="0">
                <a:effectLst/>
                <a:latin typeface="PingFang SC"/>
              </a:rPr>
              <a:t>k, 64K]</a:t>
            </a:r>
            <a:r>
              <a:rPr lang="zh-CN" altLang="en" sz="2000" b="0" i="0" dirty="0">
                <a:effectLst/>
                <a:latin typeface="PingFang SC"/>
              </a:rPr>
              <a:t>，</a:t>
            </a:r>
            <a:r>
              <a:rPr lang="en" altLang="zh-CN" sz="2000" b="0" i="0" dirty="0">
                <a:effectLst/>
                <a:latin typeface="PingFang SC"/>
              </a:rPr>
              <a:t>T</a:t>
            </a:r>
            <a:r>
              <a:rPr lang="zh-CN" altLang="en-US" sz="2000" b="0" i="0" dirty="0">
                <a:effectLst/>
                <a:latin typeface="PingFang SC"/>
              </a:rPr>
              <a:t>长度范围</a:t>
            </a:r>
            <a:r>
              <a:rPr lang="en-US" altLang="zh-CN" sz="2000" b="0" i="0" dirty="0">
                <a:effectLst/>
                <a:latin typeface="PingFang SC"/>
              </a:rPr>
              <a:t>[1</a:t>
            </a:r>
            <a:r>
              <a:rPr lang="en" altLang="zh-CN" sz="2000" b="0" i="0" dirty="0">
                <a:effectLst/>
                <a:latin typeface="PingFang SC"/>
              </a:rPr>
              <a:t>k, 256k]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>
                <a:effectLst/>
                <a:latin typeface="PingFang SC"/>
              </a:rPr>
              <a:t>H</a:t>
            </a:r>
            <a:r>
              <a:rPr lang="zh-CN" altLang="en" sz="2000" b="0" i="0" dirty="0">
                <a:effectLst/>
                <a:latin typeface="PingFang SC"/>
              </a:rPr>
              <a:t>：</a:t>
            </a:r>
            <a:r>
              <a:rPr lang="en" altLang="zh-CN" sz="2000" b="0" i="0" dirty="0">
                <a:effectLst/>
                <a:latin typeface="PingFang SC"/>
              </a:rPr>
              <a:t>[1, 128]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>
                <a:effectLst/>
                <a:latin typeface="PingFang SC"/>
              </a:rPr>
              <a:t>Hg</a:t>
            </a:r>
            <a:r>
              <a:rPr lang="zh-CN" altLang="en" sz="2000" b="0" i="0" dirty="0">
                <a:effectLst/>
                <a:latin typeface="PingFang SC"/>
              </a:rPr>
              <a:t>：</a:t>
            </a:r>
            <a:r>
              <a:rPr lang="en" altLang="zh-CN" sz="2000" b="0" i="0" dirty="0">
                <a:effectLst/>
                <a:latin typeface="PingFang SC"/>
              </a:rPr>
              <a:t>[1, 32]</a:t>
            </a:r>
            <a:r>
              <a:rPr lang="zh-CN" altLang="en" sz="2000" b="0" i="0" dirty="0">
                <a:effectLst/>
                <a:latin typeface="PingFang SC"/>
              </a:rPr>
              <a:t>，</a:t>
            </a:r>
            <a:r>
              <a:rPr lang="en" altLang="zh-CN" sz="2000" b="0" i="0" dirty="0">
                <a:effectLst/>
                <a:latin typeface="PingFang SC"/>
              </a:rPr>
              <a:t>Hg</a:t>
            </a:r>
            <a:r>
              <a:rPr lang="zh-CN" altLang="en-US" sz="2000" b="0" i="0" dirty="0">
                <a:effectLst/>
                <a:latin typeface="PingFang SC"/>
              </a:rPr>
              <a:t>是</a:t>
            </a:r>
            <a:r>
              <a:rPr lang="en" altLang="zh-CN" sz="2000" b="0" i="0" dirty="0">
                <a:effectLst/>
                <a:latin typeface="PingFang SC"/>
              </a:rPr>
              <a:t>H</a:t>
            </a:r>
            <a:r>
              <a:rPr lang="zh-CN" altLang="en-US" sz="2000" b="0" i="0" dirty="0">
                <a:effectLst/>
                <a:latin typeface="PingFang SC"/>
              </a:rPr>
              <a:t>的因子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>
                <a:effectLst/>
                <a:latin typeface="PingFang SC"/>
              </a:rPr>
              <a:t>K</a:t>
            </a:r>
            <a:r>
              <a:rPr lang="zh-CN" altLang="en" sz="2000" b="0" i="0" dirty="0">
                <a:effectLst/>
                <a:latin typeface="PingFang SC"/>
              </a:rPr>
              <a:t>：</a:t>
            </a:r>
            <a:r>
              <a:rPr lang="en" altLang="zh-CN" sz="2000" b="0" i="0" dirty="0">
                <a:effectLst/>
                <a:latin typeface="PingFang SC"/>
              </a:rPr>
              <a:t>128</a:t>
            </a:r>
            <a:r>
              <a:rPr lang="zh-CN" altLang="en-US" sz="2000" b="0" i="0" dirty="0">
                <a:effectLst/>
                <a:latin typeface="PingFang SC"/>
              </a:rPr>
              <a:t>和</a:t>
            </a:r>
            <a:r>
              <a:rPr lang="en-US" altLang="zh-CN" sz="2000" b="0" i="0" dirty="0">
                <a:effectLst/>
                <a:latin typeface="PingFang SC"/>
              </a:rPr>
              <a:t>256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 err="1">
                <a:effectLst/>
                <a:latin typeface="PingFang SC"/>
              </a:rPr>
              <a:t>chunk_offsets</a:t>
            </a:r>
            <a:r>
              <a:rPr lang="zh-CN" altLang="en" sz="2000" b="0" i="0" dirty="0">
                <a:effectLst/>
                <a:latin typeface="PingFang SC"/>
              </a:rPr>
              <a:t>：</a:t>
            </a:r>
            <a:r>
              <a:rPr lang="zh-CN" altLang="en-US" sz="2000" b="0" i="0" dirty="0">
                <a:effectLst/>
                <a:latin typeface="PingFang SC"/>
              </a:rPr>
              <a:t>单调递增，举例：</a:t>
            </a:r>
            <a:r>
              <a:rPr lang="en" altLang="zh-CN" sz="2000" b="0" i="0" dirty="0">
                <a:effectLst/>
                <a:latin typeface="PingFang SC"/>
              </a:rPr>
              <a:t>T = 300</a:t>
            </a:r>
            <a:r>
              <a:rPr lang="zh-CN" altLang="en" sz="2000" b="0" i="0" dirty="0">
                <a:effectLst/>
                <a:latin typeface="PingFang SC"/>
              </a:rPr>
              <a:t>，</a:t>
            </a:r>
            <a:r>
              <a:rPr lang="zh-CN" altLang="en-US" sz="2000" b="0" i="0" dirty="0">
                <a:effectLst/>
                <a:latin typeface="PingFang SC"/>
              </a:rPr>
              <a:t>其中包含序列长度</a:t>
            </a:r>
            <a:r>
              <a:rPr lang="en-US" altLang="zh-CN" sz="2000" b="0" i="0" dirty="0">
                <a:effectLst/>
                <a:latin typeface="PingFang SC"/>
              </a:rPr>
              <a:t>3</a:t>
            </a:r>
            <a:r>
              <a:rPr lang="zh-CN" altLang="en-US" sz="2000" b="0" i="0" dirty="0">
                <a:effectLst/>
                <a:latin typeface="PingFang SC"/>
              </a:rPr>
              <a:t>，</a:t>
            </a:r>
            <a:r>
              <a:rPr lang="en" altLang="zh-CN" sz="2000" b="0" i="0" dirty="0" err="1">
                <a:effectLst/>
                <a:latin typeface="PingFang SC"/>
              </a:rPr>
              <a:t>cu_seqlens</a:t>
            </a:r>
            <a:r>
              <a:rPr lang="en" altLang="zh-CN" sz="2000" b="0" i="0" dirty="0">
                <a:effectLst/>
                <a:latin typeface="PingFang SC"/>
              </a:rPr>
              <a:t> = [0, 100, 240, 300]</a:t>
            </a:r>
            <a:r>
              <a:rPr lang="zh-CN" altLang="en" sz="2000" b="0" i="0" dirty="0">
                <a:effectLst/>
                <a:latin typeface="PingFang SC"/>
              </a:rPr>
              <a:t>，</a:t>
            </a:r>
            <a:r>
              <a:rPr lang="zh-CN" altLang="en-US" sz="2000" b="0" i="0" dirty="0">
                <a:effectLst/>
                <a:latin typeface="PingFang SC"/>
              </a:rPr>
              <a:t>则</a:t>
            </a:r>
            <a:r>
              <a:rPr lang="en" altLang="zh-CN" sz="2000" b="0" i="0" dirty="0" err="1">
                <a:effectLst/>
                <a:latin typeface="PingFang SC"/>
              </a:rPr>
              <a:t>chunk_offsets</a:t>
            </a:r>
            <a:r>
              <a:rPr lang="en" altLang="zh-CN" sz="2000" b="0" i="0" dirty="0">
                <a:effectLst/>
                <a:latin typeface="PingFang SC"/>
              </a:rPr>
              <a:t> = [0, 64, 100, 164, 228, 240, 300]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sz="2000" b="0" i="0" dirty="0" err="1">
                <a:effectLst/>
                <a:latin typeface="PingFang SC"/>
              </a:rPr>
              <a:t>chunk_size</a:t>
            </a:r>
            <a:r>
              <a:rPr lang="zh-CN" altLang="en" sz="2000" b="0" i="0" dirty="0">
                <a:effectLst/>
                <a:latin typeface="PingFang SC"/>
              </a:rPr>
              <a:t>：</a:t>
            </a:r>
            <a:r>
              <a:rPr lang="en" altLang="zh-CN" sz="2000" b="0" i="0" dirty="0">
                <a:effectLst/>
                <a:latin typeface="PingFang SC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041172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297D4-7C6F-9725-D48B-2FBB24BC3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6DA763D-A49D-0D01-BE0E-44E5FC454F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93BFD51-E4B7-4DD3-08CA-6DF150BD8179}"/>
              </a:ext>
            </a:extLst>
          </p:cNvPr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617CD08-7C3D-9E16-B305-7EC509E653E1}"/>
                  </a:ext>
                </a:extLst>
              </p:cNvPr>
              <p:cNvSpPr txBox="1"/>
              <p:nvPr/>
            </p:nvSpPr>
            <p:spPr>
              <a:xfrm>
                <a:off x="728662" y="1514475"/>
                <a:ext cx="10287001" cy="2158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b="1" dirty="0"/>
                  <a:t>任务分配：</a:t>
                </a:r>
                <a:r>
                  <a:rPr lang="en-US" altLang="zh-CN" sz="2400" b="1" dirty="0"/>
                  <a:t> </a:t>
                </a:r>
                <a:r>
                  <a:rPr lang="zh-CN" altLang="en-US" sz="2400" dirty="0"/>
                  <a:t>任务不是 </a:t>
                </a:r>
                <a:r>
                  <a:rPr lang="en" altLang="zh-CN" sz="2400" dirty="0"/>
                  <a:t>query head(H)</a:t>
                </a:r>
                <a:r>
                  <a:rPr lang="zh-CN" altLang="en" sz="2400" dirty="0"/>
                  <a:t>，</a:t>
                </a:r>
                <a:r>
                  <a:rPr lang="zh-CN" altLang="en-US" sz="2400" dirty="0"/>
                  <a:t>而是 </a:t>
                </a:r>
                <a:r>
                  <a:rPr lang="en" altLang="zh-CN" sz="2400" dirty="0"/>
                  <a:t>chunk × KV head(Hg)</a:t>
                </a:r>
              </a:p>
              <a:p>
                <a:r>
                  <a:rPr lang="zh-CN" altLang="en-US" sz="2400" dirty="0"/>
                  <a:t>定义：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zh-CN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" altLang="zh-CN" i="1"/>
                        <m:t>numRepeat</m:t>
                      </m:r>
                      <m:r>
                        <a:rPr lang="en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b>
                            <m:sSub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ar-AE" altLang="zh-CN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" altLang="zh-CN" sz="2400" b="0" i="1" smtClean="0">
                          <a:latin typeface="Cambria Math" panose="02040503050406030204" pitchFamily="18" charset="0"/>
                        </a:rPr>
                        <m:t>𝑡𝑎𝑠𝑘</m:t>
                      </m:r>
                      <m:r>
                        <a:rPr lang="en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chunk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KVhead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  <a:p>
                <a:endParaRPr lang="ar-AE" altLang="zh-CN" sz="2400" b="0" dirty="0"/>
              </a:p>
              <a:p>
                <a:endParaRPr kumimoji="1" lang="zh-CN" altLang="en-US" sz="2400" b="1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617CD08-7C3D-9E16-B305-7EC509E65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62" y="1514475"/>
                <a:ext cx="10287001" cy="2158091"/>
              </a:xfrm>
              <a:prstGeom prst="rect">
                <a:avLst/>
              </a:prstGeom>
              <a:blipFill>
                <a:blip r:embed="rId3"/>
                <a:stretch>
                  <a:fillRect l="-986" t="-2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5F793CBD-1554-9D92-9519-ED7C1397EE68}"/>
              </a:ext>
            </a:extLst>
          </p:cNvPr>
          <p:cNvSpPr txBox="1"/>
          <p:nvPr/>
        </p:nvSpPr>
        <p:spPr>
          <a:xfrm>
            <a:off x="728662" y="3672565"/>
            <a:ext cx="75009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一个 task 计算一个 64×64 KKT block</a:t>
            </a:r>
          </a:p>
          <a:p>
            <a:r>
              <a:rPr lang="zh-CN" altLang="en-US" dirty="0"/>
              <a:t>一个 KKT block 会被 R 个 query heads 复用</a:t>
            </a:r>
          </a:p>
          <a:p>
            <a:r>
              <a:rPr lang="zh-CN" altLang="en-US" dirty="0"/>
              <a:t>K ∈ {128, 256}</a:t>
            </a:r>
          </a:p>
          <a:p>
            <a:r>
              <a:rPr lang="zh-CN" altLang="en-US" dirty="0"/>
              <a:t>chunkLen ∈ [1, 64]</a:t>
            </a:r>
          </a:p>
          <a:p>
            <a:r>
              <a:rPr lang="zh-CN" altLang="en-US" dirty="0"/>
              <a:t>存在 full chunk 和 tail chunk</a:t>
            </a:r>
          </a:p>
          <a:p>
            <a:r>
              <a:rPr lang="zh-CN" altLang="en-US" dirty="0"/>
              <a:t>存在多 chunk、多 KV head、多 query head、变长序列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0538A2-58FA-002B-17C2-3330EA4C62A3}"/>
              </a:ext>
            </a:extLst>
          </p:cNvPr>
          <p:cNvSpPr txBox="1"/>
          <p:nvPr/>
        </p:nvSpPr>
        <p:spPr>
          <a:xfrm>
            <a:off x="6572251" y="3429000"/>
            <a:ext cx="61007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(chunk, kvHead)</a:t>
            </a:r>
          </a:p>
          <a:p>
            <a:r>
              <a:rPr lang="zh-CN" altLang="en-US" dirty="0"/>
              <a:t>      │</a:t>
            </a:r>
          </a:p>
          <a:p>
            <a:r>
              <a:rPr lang="zh-CN" altLang="en-US" dirty="0"/>
              <a:t>      ▼</a:t>
            </a:r>
          </a:p>
          <a:p>
            <a:r>
              <a:rPr lang="zh-CN" altLang="en-US" dirty="0"/>
              <a:t>   一个 KKT</a:t>
            </a:r>
          </a:p>
          <a:p>
            <a:r>
              <a:rPr lang="zh-CN" altLang="en-US" dirty="0"/>
              <a:t>      │</a:t>
            </a:r>
          </a:p>
          <a:p>
            <a:r>
              <a:rPr lang="zh-CN" altLang="en-US" dirty="0"/>
              <a:t>      ├── query head 0：g0 / beta0</a:t>
            </a:r>
          </a:p>
          <a:p>
            <a:r>
              <a:rPr lang="zh-CN" altLang="en-US" dirty="0"/>
              <a:t>      ├── query head 1：g1 / beta1</a:t>
            </a:r>
          </a:p>
          <a:p>
            <a:r>
              <a:rPr lang="zh-CN" altLang="en-US" dirty="0"/>
              <a:t>      ├── query head 2：g2 / beta2</a:t>
            </a:r>
          </a:p>
          <a:p>
            <a:r>
              <a:rPr lang="zh-CN" altLang="en-US" dirty="0"/>
              <a:t>      └── ...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381D17FE-4C41-6CE3-366B-13E66EC802EF}"/>
              </a:ext>
            </a:extLst>
          </p:cNvPr>
          <p:cNvSpPr txBox="1">
            <a:spLocks/>
          </p:cNvSpPr>
          <p:nvPr/>
        </p:nvSpPr>
        <p:spPr>
          <a:xfrm>
            <a:off x="620201" y="481325"/>
            <a:ext cx="6805168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二、算子实现：实现一个低风险的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</a:t>
            </a:r>
            <a:endParaRPr kumimoji="1" lang="zh-CN" alt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7120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D84FD-498E-AC7F-CF54-6B464FCFE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E3EEFFA-D7C8-3AAE-12B8-C2FF9B3B3D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958151D-BC4A-DF32-68CA-016F1ED53154}"/>
              </a:ext>
            </a:extLst>
          </p:cNvPr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pic>
        <p:nvPicPr>
          <p:cNvPr id="2" name="图片 1" descr="图形用户界面&#10;&#10;AI 生成的内容可能不正确。">
            <a:extLst>
              <a:ext uri="{FF2B5EF4-FFF2-40B4-BE49-F238E27FC236}">
                <a16:creationId xmlns:a16="http://schemas.microsoft.com/office/drawing/2014/main" id="{D07EE768-5ED1-A23A-0EEA-9534CB0D3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44" y="1598206"/>
            <a:ext cx="8264644" cy="506880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DEC7384-D648-3152-280C-C9AEB2D934C7}"/>
              </a:ext>
            </a:extLst>
          </p:cNvPr>
          <p:cNvSpPr txBox="1"/>
          <p:nvPr/>
        </p:nvSpPr>
        <p:spPr>
          <a:xfrm>
            <a:off x="641444" y="1085994"/>
            <a:ext cx="895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Arch22</a:t>
            </a:r>
            <a:r>
              <a:rPr kumimoji="1" lang="zh-CN" altLang="en-US" dirty="0"/>
              <a:t>（</a:t>
            </a:r>
            <a:r>
              <a:rPr kumimoji="1" lang="en-US" altLang="zh-CN" dirty="0"/>
              <a:t>910B</a:t>
            </a:r>
            <a:r>
              <a:rPr kumimoji="1" lang="zh-CN" altLang="en-US" dirty="0"/>
              <a:t>等芯片），从底层架构出发，将计算任务分配到最适配的硬件上去</a:t>
            </a: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56B8A20D-AA9F-0023-5BE1-4ECD81CE49A9}"/>
              </a:ext>
            </a:extLst>
          </p:cNvPr>
          <p:cNvCxnSpPr/>
          <p:nvPr/>
        </p:nvCxnSpPr>
        <p:spPr>
          <a:xfrm flipH="1">
            <a:off x="9202138" y="1991529"/>
            <a:ext cx="721217" cy="655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DFC5AC5-BC2E-7F81-B2E4-FB2847D4683B}"/>
              </a:ext>
            </a:extLst>
          </p:cNvPr>
          <p:cNvSpPr txBox="1"/>
          <p:nvPr/>
        </p:nvSpPr>
        <p:spPr>
          <a:xfrm>
            <a:off x="10120761" y="1413540"/>
            <a:ext cx="1156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K @ K</a:t>
            </a:r>
            <a:r>
              <a:rPr kumimoji="1" lang="en-US" altLang="zh-CN" baseline="30000" dirty="0"/>
              <a:t>T</a:t>
            </a:r>
          </a:p>
          <a:p>
            <a:r>
              <a:rPr kumimoji="1" lang="en-US" altLang="zh-CN" dirty="0"/>
              <a:t>(</a:t>
            </a:r>
            <a:r>
              <a:rPr kumimoji="1" lang="en-US" altLang="zh-CN" dirty="0" err="1"/>
              <a:t>Matmul</a:t>
            </a:r>
            <a:r>
              <a:rPr kumimoji="1" lang="en-US" altLang="zh-CN" dirty="0"/>
              <a:t>)	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8CE889-A7B0-EC97-C67D-4B76BB30180E}"/>
              </a:ext>
            </a:extLst>
          </p:cNvPr>
          <p:cNvSpPr txBox="1"/>
          <p:nvPr/>
        </p:nvSpPr>
        <p:spPr>
          <a:xfrm>
            <a:off x="9594375" y="4693730"/>
            <a:ext cx="20196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*g</a:t>
            </a:r>
          </a:p>
          <a:p>
            <a:r>
              <a:rPr kumimoji="1" lang="en-US" altLang="zh-CN" dirty="0"/>
              <a:t>*beta</a:t>
            </a:r>
          </a:p>
          <a:p>
            <a:r>
              <a:rPr kumimoji="1" lang="en-US" altLang="zh-CN" dirty="0"/>
              <a:t>*KKT</a:t>
            </a:r>
          </a:p>
          <a:p>
            <a:r>
              <a:rPr kumimoji="1" lang="en-US" altLang="zh-CN" dirty="0"/>
              <a:t>(row-wise vector)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5366C79F-442A-8C7B-DAE3-9B1746A0E67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9016119" y="5293895"/>
            <a:ext cx="578256" cy="263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标题 1">
            <a:extLst>
              <a:ext uri="{FF2B5EF4-FFF2-40B4-BE49-F238E27FC236}">
                <a16:creationId xmlns:a16="http://schemas.microsoft.com/office/drawing/2014/main" id="{48155A62-E5B6-3890-D483-1AE3D573EFB6}"/>
              </a:ext>
            </a:extLst>
          </p:cNvPr>
          <p:cNvSpPr txBox="1">
            <a:spLocks/>
          </p:cNvSpPr>
          <p:nvPr/>
        </p:nvSpPr>
        <p:spPr>
          <a:xfrm>
            <a:off x="641444" y="262227"/>
            <a:ext cx="6805168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二、算子实现：实现一个低风险的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</a:t>
            </a:r>
            <a:endParaRPr kumimoji="1" lang="zh-CN" alt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1358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BDAAA-63C7-C9FF-3D35-D3F85A514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F17B6FC-EA36-FC2C-38F2-AE47E12FA5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75" y="5474916"/>
            <a:ext cx="1312676" cy="3484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7A2E6319-6BA0-5745-0582-C8E752A8B924}"/>
              </a:ext>
            </a:extLst>
          </p:cNvPr>
          <p:cNvSpPr txBox="1"/>
          <p:nvPr/>
        </p:nvSpPr>
        <p:spPr>
          <a:xfrm>
            <a:off x="336104" y="6141471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0D97B32B-9833-0779-ED93-5624BAA80458}"/>
              </a:ext>
            </a:extLst>
          </p:cNvPr>
          <p:cNvSpPr txBox="1">
            <a:spLocks/>
          </p:cNvSpPr>
          <p:nvPr/>
        </p:nvSpPr>
        <p:spPr>
          <a:xfrm>
            <a:off x="0" y="240194"/>
            <a:ext cx="1764698" cy="37479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二、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算子实现：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具体算数流程</a:t>
            </a:r>
          </a:p>
        </p:txBody>
      </p:sp>
      <p:pic>
        <p:nvPicPr>
          <p:cNvPr id="10" name="图片 9" descr="图示&#10;&#10;AI 生成的内容可能不正确。">
            <a:extLst>
              <a:ext uri="{FF2B5EF4-FFF2-40B4-BE49-F238E27FC236}">
                <a16:creationId xmlns:a16="http://schemas.microsoft.com/office/drawing/2014/main" id="{AFF80E19-69F9-A099-8828-0EC350143B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35" t="6683" r="1934" b="3830"/>
          <a:stretch>
            <a:fillRect/>
          </a:stretch>
        </p:blipFill>
        <p:spPr>
          <a:xfrm>
            <a:off x="2005012" y="0"/>
            <a:ext cx="101869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00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C00D6-8E7B-1A07-794A-5E2D604DF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E5494AF-E308-8AC2-E19C-DC28134745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84" y="6051384"/>
            <a:ext cx="1312676" cy="3484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CBFFDB9-8664-E549-B09E-28F37742E7B4}"/>
              </a:ext>
            </a:extLst>
          </p:cNvPr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B0176206-C204-F9DF-F803-5084C0CF89FF}"/>
              </a:ext>
            </a:extLst>
          </p:cNvPr>
          <p:cNvSpPr txBox="1">
            <a:spLocks/>
          </p:cNvSpPr>
          <p:nvPr/>
        </p:nvSpPr>
        <p:spPr>
          <a:xfrm>
            <a:off x="641444" y="262227"/>
            <a:ext cx="7873906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二、算子实现：踩过的一个坑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尾部处理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3DE79A-A028-BCD0-E80D-B84067B9F371}"/>
              </a:ext>
            </a:extLst>
          </p:cNvPr>
          <p:cNvSpPr txBox="1"/>
          <p:nvPr/>
        </p:nvSpPr>
        <p:spPr>
          <a:xfrm>
            <a:off x="573231" y="1270660"/>
            <a:ext cx="1154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根据</a:t>
            </a:r>
            <a:r>
              <a:rPr kumimoji="1" lang="en-US" altLang="zh-CN" dirty="0" err="1"/>
              <a:t>chunk_offsets</a:t>
            </a:r>
            <a:r>
              <a:rPr kumimoji="1" lang="en-US" altLang="zh-CN" dirty="0"/>
              <a:t>,</a:t>
            </a:r>
            <a:r>
              <a:rPr kumimoji="1" lang="zh-CN" altLang="en-US" dirty="0"/>
              <a:t> 部分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的</a:t>
            </a:r>
            <a:r>
              <a:rPr kumimoji="1" lang="en-US" altLang="zh-CN" dirty="0"/>
              <a:t>L</a:t>
            </a:r>
            <a:r>
              <a:rPr kumimoji="1" lang="zh-CN" altLang="en-US" dirty="0"/>
              <a:t>不足</a:t>
            </a:r>
            <a:r>
              <a:rPr kumimoji="1" lang="en-US" altLang="zh-CN" dirty="0"/>
              <a:t>64</a:t>
            </a:r>
            <a:r>
              <a:rPr kumimoji="1" lang="zh-CN" altLang="en-US" dirty="0"/>
              <a:t>，会造成一些尾部问题，如果直接按通用方式处理，会有正确性的</a:t>
            </a:r>
            <a:r>
              <a:rPr kumimoji="1" lang="en-US" altLang="zh-CN" dirty="0"/>
              <a:t>bug</a:t>
            </a:r>
            <a:r>
              <a:rPr kumimoji="1" lang="zh-CN" altLang="en-US" dirty="0"/>
              <a:t>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6F33E5A-BD1F-6303-DA85-8CD113934EC2}"/>
              </a:ext>
            </a:extLst>
          </p:cNvPr>
          <p:cNvSpPr txBox="1"/>
          <p:nvPr/>
        </p:nvSpPr>
        <p:spPr>
          <a:xfrm>
            <a:off x="573231" y="1879163"/>
            <a:ext cx="61007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 假设：L = 37</a:t>
            </a:r>
          </a:p>
          <a:p>
            <a:endParaRPr lang="zh-CN" altLang="en-US" dirty="0"/>
          </a:p>
          <a:p>
            <a:r>
              <a:rPr lang="zh-CN" altLang="en-US" dirty="0"/>
              <a:t>我们所需要的                        实际 Matmul 输出</a:t>
            </a:r>
          </a:p>
          <a:p>
            <a:endParaRPr lang="zh-CN" altLang="en-US" dirty="0"/>
          </a:p>
          <a:p>
            <a:r>
              <a:rPr lang="zh-CN" altLang="en-US" dirty="0"/>
              <a:t>row 0  [37 valid][27 pad]        row 0  [------ 37 ------]</a:t>
            </a:r>
          </a:p>
          <a:p>
            <a:r>
              <a:rPr lang="zh-CN" altLang="en-US" dirty="0"/>
              <a:t>row 1  [37 valid][27 pad]        row 1  [------ 37 ------]</a:t>
            </a:r>
          </a:p>
          <a:p>
            <a:r>
              <a:rPr lang="zh-CN" altLang="en-US" dirty="0"/>
              <a:t>row 2  [37 valid][27 pad]        row 2  [------ 37 ------]</a:t>
            </a:r>
          </a:p>
          <a:p>
            <a:endParaRPr lang="zh-CN" altLang="en-US" dirty="0"/>
          </a:p>
          <a:p>
            <a:r>
              <a:rPr lang="zh-CN" altLang="en-US" dirty="0"/>
              <a:t>        stride = 64                      stride = 37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dirty="0"/>
              <a:t>单纯</a:t>
            </a:r>
            <a:r>
              <a:rPr lang="en-US" altLang="zh-CN" dirty="0"/>
              <a:t>32B</a:t>
            </a:r>
            <a:r>
              <a:rPr lang="zh-CN" altLang="en-US" dirty="0"/>
              <a:t>（</a:t>
            </a:r>
            <a:r>
              <a:rPr lang="en-US" altLang="zh-CN" dirty="0"/>
              <a:t>UB</a:t>
            </a:r>
            <a:r>
              <a:rPr lang="zh-CN" altLang="en-US" dirty="0"/>
              <a:t>的需求）对齐并不够，这里我们的数据是</a:t>
            </a:r>
            <a:r>
              <a:rPr lang="en-US" altLang="zh-CN" dirty="0"/>
              <a:t>float32</a:t>
            </a:r>
            <a:r>
              <a:rPr lang="zh-CN" altLang="en-US" dirty="0"/>
              <a:t>，</a:t>
            </a:r>
            <a:r>
              <a:rPr lang="en-US" altLang="zh-CN" dirty="0"/>
              <a:t>32B</a:t>
            </a:r>
            <a:r>
              <a:rPr lang="zh-CN" altLang="en-US" dirty="0"/>
              <a:t>对齐对应的是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float32</a:t>
            </a:r>
            <a:r>
              <a:rPr lang="zh-CN" altLang="en-US" dirty="0"/>
              <a:t>，所以</a:t>
            </a:r>
            <a:r>
              <a:rPr lang="en-US" altLang="zh-CN" dirty="0" err="1"/>
              <a:t>datapad</a:t>
            </a:r>
            <a:r>
              <a:rPr lang="zh-CN" altLang="en-US" dirty="0"/>
              <a:t>后是</a:t>
            </a:r>
            <a:endParaRPr lang="en-US" altLang="zh-CN" dirty="0"/>
          </a:p>
          <a:p>
            <a:r>
              <a:rPr lang="en" altLang="zh-CN" dirty="0"/>
              <a:t>[----------- 37 valid -----------][3 pad] </a:t>
            </a:r>
          </a:p>
          <a:p>
            <a:r>
              <a:rPr lang="en" altLang="zh-CN" dirty="0"/>
              <a:t>&lt;---------------- 40 ----------------&gt;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D42CA0-D687-C195-C2CC-E3E2AAD8B377}"/>
              </a:ext>
            </a:extLst>
          </p:cNvPr>
          <p:cNvSpPr txBox="1"/>
          <p:nvPr/>
        </p:nvSpPr>
        <p:spPr>
          <a:xfrm>
            <a:off x="7029450" y="1639992"/>
            <a:ext cx="430053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解决方案</a:t>
            </a:r>
            <a:endParaRPr lang="en-US" altLang="zh-CN" b="1" dirty="0"/>
          </a:p>
          <a:p>
            <a:r>
              <a:rPr lang="zh-CN" altLang="en-US" dirty="0"/>
              <a:t>compact [L × L]</a:t>
            </a:r>
          </a:p>
          <a:p>
            <a:endParaRPr lang="zh-CN" altLang="en-US" dirty="0"/>
          </a:p>
          <a:p>
            <a:r>
              <a:rPr lang="zh-CN" altLang="en-US" dirty="0"/>
              <a:t>       row0 [---- L ----]</a:t>
            </a:r>
          </a:p>
          <a:p>
            <a:r>
              <a:rPr lang="zh-CN" altLang="en-US" dirty="0"/>
              <a:t>       row1 [---- L ----]</a:t>
            </a:r>
          </a:p>
          <a:p>
            <a:r>
              <a:rPr lang="zh-CN" altLang="en-US" dirty="0"/>
              <a:t>       row2 [---- L ----]</a:t>
            </a:r>
          </a:p>
          <a:p>
            <a:endParaRPr lang="zh-CN" altLang="en-US" dirty="0"/>
          </a:p>
          <a:p>
            <a:r>
              <a:rPr lang="zh-CN" altLang="en-US" dirty="0"/>
              <a:t>               │</a:t>
            </a:r>
          </a:p>
          <a:p>
            <a:r>
              <a:rPr lang="zh-CN" altLang="en-US" dirty="0"/>
              <a:t>               │  ① UB 清零</a:t>
            </a:r>
          </a:p>
          <a:p>
            <a:r>
              <a:rPr lang="zh-CN" altLang="en-US" dirty="0"/>
              <a:t>               │  ② 只搬 L 个有效值</a:t>
            </a:r>
          </a:p>
          <a:p>
            <a:r>
              <a:rPr lang="zh-CN" altLang="en-US" dirty="0"/>
              <a:t>               │  ③ 按 32B 做 DataCopyPad</a:t>
            </a:r>
          </a:p>
          <a:p>
            <a:r>
              <a:rPr lang="zh-CN" altLang="en-US" dirty="0"/>
              <a:t>               ▼</a:t>
            </a:r>
          </a:p>
          <a:p>
            <a:endParaRPr lang="zh-CN" altLang="en-US" dirty="0"/>
          </a:p>
          <a:p>
            <a:r>
              <a:rPr lang="zh-CN" altLang="en-US" dirty="0"/>
              <a:t>          AIV Working UB</a:t>
            </a:r>
          </a:p>
          <a:p>
            <a:endParaRPr lang="zh-CN" altLang="en-US" dirty="0"/>
          </a:p>
          <a:p>
            <a:r>
              <a:rPr lang="zh-CN" altLang="en-US" dirty="0"/>
              <a:t>       row0 [--L--][padding........]</a:t>
            </a:r>
          </a:p>
          <a:p>
            <a:r>
              <a:rPr lang="zh-CN" altLang="en-US" dirty="0"/>
              <a:t>       row1 [--L--][padding........]</a:t>
            </a:r>
          </a:p>
          <a:p>
            <a:r>
              <a:rPr lang="zh-CN" altLang="en-US" dirty="0"/>
              <a:t>       row2 [--L--][padding........]</a:t>
            </a:r>
          </a:p>
          <a:p>
            <a:r>
              <a:rPr lang="zh-CN" altLang="en-US" dirty="0"/>
              <a:t>             &lt;------ 64 ------&gt;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2830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47DFC-BFF2-026C-A268-FF3B505BF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C06E909-ACAE-7F0C-D30B-63033180A7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9AC4663B-43B6-B36E-B4BF-917177D879D3}"/>
              </a:ext>
            </a:extLst>
          </p:cNvPr>
          <p:cNvSpPr txBox="1">
            <a:spLocks/>
          </p:cNvSpPr>
          <p:nvPr/>
        </p:nvSpPr>
        <p:spPr>
          <a:xfrm>
            <a:off x="641444" y="262227"/>
            <a:ext cx="7145244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三、算子性能优化：常规的一些思路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7DDE73-68E7-F3AA-A870-27505E168791}"/>
              </a:ext>
            </a:extLst>
          </p:cNvPr>
          <p:cNvSpPr txBox="1"/>
          <p:nvPr/>
        </p:nvSpPr>
        <p:spPr>
          <a:xfrm>
            <a:off x="742122" y="993255"/>
            <a:ext cx="1097756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1</a:t>
            </a:r>
            <a:r>
              <a:rPr kumimoji="1" lang="zh-CN" altLang="en-US" sz="2400" dirty="0"/>
              <a:t>、通过</a:t>
            </a:r>
            <a:r>
              <a:rPr kumimoji="1" lang="en-US" altLang="zh-CN" sz="2400" dirty="0"/>
              <a:t>tiling</a:t>
            </a:r>
            <a:r>
              <a:rPr kumimoji="1" lang="zh-CN" altLang="en-US" sz="2400" dirty="0"/>
              <a:t>（任务切分）尽量能把所有的</a:t>
            </a:r>
            <a:r>
              <a:rPr kumimoji="1" lang="en-US" altLang="zh-CN" sz="2400" dirty="0"/>
              <a:t>AI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core</a:t>
            </a:r>
            <a:r>
              <a:rPr kumimoji="1" lang="zh-CN" altLang="en-US" sz="2400" dirty="0"/>
              <a:t>分配满（但是要注意，对于中小的</a:t>
            </a:r>
            <a:r>
              <a:rPr kumimoji="1" lang="en-US" altLang="zh-CN" sz="2400" dirty="0"/>
              <a:t>case</a:t>
            </a:r>
            <a:r>
              <a:rPr kumimoji="1" lang="zh-CN" altLang="en-US" sz="2400" dirty="0"/>
              <a:t>，并不一定用越多的</a:t>
            </a:r>
            <a:r>
              <a:rPr kumimoji="1" lang="en-US" altLang="zh-CN" sz="2400" dirty="0"/>
              <a:t>core</a:t>
            </a:r>
            <a:r>
              <a:rPr kumimoji="1" lang="zh-CN" altLang="en-US" sz="2400" dirty="0"/>
              <a:t>就会更快，要考虑通信和数据等待的开销）。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/>
              <a:t>2</a:t>
            </a:r>
            <a:r>
              <a:rPr kumimoji="1" lang="zh-CN" altLang="en-US" sz="2400" dirty="0"/>
              <a:t>、</a:t>
            </a:r>
            <a:r>
              <a:rPr lang="zh-CN" altLang="en-US" sz="2400" dirty="0"/>
              <a:t>根据计算性质分配到合适的执行单元（</a:t>
            </a:r>
            <a:r>
              <a:rPr lang="en-US" altLang="zh-CN" sz="2400" dirty="0"/>
              <a:t>AIC/AIV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、优化数据搬运和存储布局</a:t>
            </a:r>
            <a:endParaRPr lang="en-US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/>
              <a:t>3</a:t>
            </a:r>
            <a:r>
              <a:rPr kumimoji="1" lang="zh-CN" altLang="en-US" sz="2400" dirty="0"/>
              <a:t>、利用好</a:t>
            </a:r>
            <a:r>
              <a:rPr kumimoji="1" lang="en-US" altLang="zh-CN" sz="2400" dirty="0"/>
              <a:t>AIV</a:t>
            </a:r>
            <a:r>
              <a:rPr kumimoji="1" lang="zh-CN" altLang="en-US" sz="2400" dirty="0"/>
              <a:t>的特性（</a:t>
            </a:r>
            <a:r>
              <a:rPr kumimoji="1" lang="en-US" altLang="zh-CN" sz="2400" dirty="0"/>
              <a:t>Vector</a:t>
            </a:r>
            <a:r>
              <a:rPr kumimoji="1" lang="zh-CN" altLang="en-US" sz="2400" dirty="0"/>
              <a:t>适配的</a:t>
            </a:r>
            <a:r>
              <a:rPr kumimoji="1" lang="en-US" altLang="zh-CN" sz="2400" dirty="0"/>
              <a:t>API</a:t>
            </a:r>
            <a:r>
              <a:rPr kumimoji="1" lang="zh-CN" altLang="en-US" sz="2400" dirty="0"/>
              <a:t>），想办法怎么能把</a:t>
            </a:r>
            <a:r>
              <a:rPr kumimoji="1" lang="en-US" altLang="zh-CN" sz="2400" dirty="0"/>
              <a:t>scalar</a:t>
            </a:r>
            <a:r>
              <a:rPr kumimoji="1" lang="zh-CN" altLang="en-US" sz="2400" dirty="0"/>
              <a:t>的一些计算方式通过转变为</a:t>
            </a:r>
            <a:r>
              <a:rPr kumimoji="1" lang="en-US" altLang="zh-CN" sz="2400" dirty="0"/>
              <a:t>vector</a:t>
            </a:r>
            <a:r>
              <a:rPr kumimoji="1" lang="zh-CN" altLang="en-US" sz="2400" dirty="0"/>
              <a:t>的计算方式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/>
              <a:t>4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AIC</a:t>
            </a:r>
            <a:r>
              <a:rPr kumimoji="1" lang="zh-CN" altLang="en-US" sz="2400" dirty="0"/>
              <a:t>可以通过低阶手写</a:t>
            </a:r>
            <a:r>
              <a:rPr kumimoji="1" lang="en-US" altLang="zh-CN" sz="2400" dirty="0"/>
              <a:t>MMAD</a:t>
            </a:r>
            <a:r>
              <a:rPr kumimoji="1" lang="zh-CN" altLang="en-US" sz="2400" dirty="0"/>
              <a:t>，降低固定开销，获得一定的加速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/>
              <a:t>5</a:t>
            </a:r>
            <a:r>
              <a:rPr kumimoji="1" lang="zh-CN" altLang="en-US" sz="2400" dirty="0"/>
              <a:t>、调整流水、</a:t>
            </a:r>
            <a:r>
              <a:rPr kumimoji="1" lang="en-US" altLang="zh-CN" sz="2400" dirty="0"/>
              <a:t>buffer</a:t>
            </a:r>
            <a:r>
              <a:rPr kumimoji="1" lang="zh-CN" altLang="en-US" sz="2400" dirty="0"/>
              <a:t>，将尽可能多的流水并行工作（当然也需要考虑到数据依赖的性质）</a:t>
            </a:r>
            <a:endParaRPr kumimoji="1" lang="en-US" altLang="zh-CN" sz="2400" dirty="0"/>
          </a:p>
          <a:p>
            <a:r>
              <a:rPr kumimoji="1" lang="en-US" altLang="zh-CN" sz="2400" dirty="0"/>
              <a:t>………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17289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03F1A-B50C-C9CB-5E4C-B93032257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1D1F711-2FBF-78E4-5205-FEE7E0E932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53A5D3A5-B735-EA59-11A0-58C40717F884}"/>
              </a:ext>
            </a:extLst>
          </p:cNvPr>
          <p:cNvSpPr txBox="1">
            <a:spLocks/>
          </p:cNvSpPr>
          <p:nvPr/>
        </p:nvSpPr>
        <p:spPr>
          <a:xfrm>
            <a:off x="641443" y="262227"/>
            <a:ext cx="8689843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三、算子性能优化：工具和参考资料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FD78BE-E7E4-656F-4771-80C08F695C40}"/>
              </a:ext>
            </a:extLst>
          </p:cNvPr>
          <p:cNvSpPr txBox="1"/>
          <p:nvPr/>
        </p:nvSpPr>
        <p:spPr>
          <a:xfrm>
            <a:off x="538162" y="1270660"/>
            <a:ext cx="109775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Profile</a:t>
            </a:r>
            <a:r>
              <a:rPr kumimoji="1" lang="zh-CN" altLang="en-US" sz="2400" b="1" dirty="0"/>
              <a:t>工具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r>
              <a:rPr kumimoji="1" lang="en-US" altLang="zh-CN" sz="2400" dirty="0" err="1"/>
              <a:t>msprofile</a:t>
            </a:r>
            <a:r>
              <a:rPr kumimoji="1" lang="zh-CN" altLang="en-US" sz="2400" dirty="0"/>
              <a:t>：真实上板，且有真实的较为详细的计算时间数据，以及数据搬运大小的数据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 err="1"/>
              <a:t>msprofile</a:t>
            </a:r>
            <a:r>
              <a:rPr kumimoji="1" lang="en-US" altLang="zh-CN" sz="2400" dirty="0"/>
              <a:t> simulator: </a:t>
            </a:r>
            <a:r>
              <a:rPr kumimoji="1" lang="zh-CN" altLang="en-US" sz="2400" dirty="0"/>
              <a:t>仿真分析，能看到具体的流水、时间占比、指令数量等</a:t>
            </a:r>
            <a:r>
              <a:rPr kumimoji="1" lang="en-US" altLang="zh-CN" sz="2400" dirty="0"/>
              <a:t>…</a:t>
            </a:r>
          </a:p>
          <a:p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E877F1-4D7C-1C0D-1BB7-DA5786D7BC97}"/>
              </a:ext>
            </a:extLst>
          </p:cNvPr>
          <p:cNvSpPr txBox="1"/>
          <p:nvPr/>
        </p:nvSpPr>
        <p:spPr>
          <a:xfrm>
            <a:off x="538162" y="3429000"/>
            <a:ext cx="1097756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参考资料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r>
              <a:rPr kumimoji="1" lang="zh-CN" altLang="en-US" sz="2400" dirty="0"/>
              <a:t>官方算子库：</a:t>
            </a:r>
            <a:endParaRPr kumimoji="1" lang="en-US" altLang="zh-CN" sz="2400" dirty="0"/>
          </a:p>
          <a:p>
            <a:r>
              <a:rPr kumimoji="1" lang="en" altLang="zh-CN" sz="2400" dirty="0">
                <a:hlinkClick r:id="rId3"/>
              </a:rPr>
              <a:t>https://gitcode.com/cann/ops-transformer</a:t>
            </a:r>
            <a:endParaRPr kumimoji="1" lang="en" altLang="zh-CN" sz="2400" dirty="0"/>
          </a:p>
          <a:p>
            <a:r>
              <a:rPr kumimoji="1" lang="en" altLang="zh-CN" sz="2400" dirty="0">
                <a:hlinkClick r:id="rId4"/>
              </a:rPr>
              <a:t>https://gitcode.com/cann/ops-nn</a:t>
            </a:r>
            <a:r>
              <a:rPr kumimoji="1" lang="en" altLang="zh-CN" sz="2400" dirty="0"/>
              <a:t> </a:t>
            </a:r>
          </a:p>
          <a:p>
            <a:r>
              <a:rPr kumimoji="1" lang="en" altLang="zh-CN" sz="2400" dirty="0">
                <a:hlinkClick r:id="rId5"/>
              </a:rPr>
              <a:t>https://gitcode.com/cann/ops-math</a:t>
            </a:r>
            <a:r>
              <a:rPr kumimoji="1" lang="en" altLang="zh-CN" sz="2400" dirty="0"/>
              <a:t> </a:t>
            </a:r>
          </a:p>
          <a:p>
            <a:r>
              <a:rPr kumimoji="1" lang="zh-CN" altLang="en" sz="2400" dirty="0"/>
              <a:t>官方</a:t>
            </a:r>
            <a:r>
              <a:rPr kumimoji="1" lang="zh-CN" altLang="en-US" sz="2400" dirty="0"/>
              <a:t>教学：</a:t>
            </a:r>
            <a:r>
              <a:rPr kumimoji="1" lang="en" altLang="zh-CN" sz="2400" dirty="0">
                <a:hlinkClick r:id="rId6"/>
              </a:rPr>
              <a:t>https://gitcode.com/cann/cann</a:t>
            </a:r>
            <a:r>
              <a:rPr kumimoji="1" lang="en-US" altLang="zh-CN" sz="2400" dirty="0">
                <a:hlinkClick r:id="rId6"/>
              </a:rPr>
              <a:t>-learning-hub</a:t>
            </a:r>
            <a:r>
              <a:rPr kumimoji="1" lang="zh-CN" altLang="en-US" sz="2400" dirty="0"/>
              <a:t> </a:t>
            </a:r>
            <a:endParaRPr kumimoji="1" lang="en-US" altLang="zh-CN" sz="2400" dirty="0"/>
          </a:p>
          <a:p>
            <a:r>
              <a:rPr kumimoji="1" lang="zh-CN" altLang="en" sz="2400" dirty="0"/>
              <a:t>高性能</a:t>
            </a:r>
            <a:r>
              <a:rPr kumimoji="1" lang="zh-CN" altLang="en-US" sz="2400" dirty="0"/>
              <a:t>算子示例：</a:t>
            </a:r>
            <a:r>
              <a:rPr kumimoji="1" lang="en" altLang="zh-CN" sz="2400" dirty="0">
                <a:hlinkClick r:id="rId7"/>
              </a:rPr>
              <a:t>https://gitcode.com/cann/cann-samples</a:t>
            </a:r>
            <a:endParaRPr kumimoji="1" lang="en" altLang="zh-CN" sz="2400" dirty="0"/>
          </a:p>
          <a:p>
            <a:r>
              <a:rPr kumimoji="1" lang="zh-CN" altLang="en" sz="2400" dirty="0"/>
              <a:t>赛事</a:t>
            </a:r>
            <a:r>
              <a:rPr kumimoji="1" lang="zh-CN" altLang="en-US" sz="2400" dirty="0"/>
              <a:t>冠军开源代码：</a:t>
            </a:r>
            <a:r>
              <a:rPr kumimoji="1" lang="en" altLang="zh-CN" sz="2400" dirty="0">
                <a:hlinkClick r:id="rId8"/>
              </a:rPr>
              <a:t>https://gitcode.com/cann/cann-ops-competitions</a:t>
            </a:r>
            <a:r>
              <a:rPr kumimoji="1" lang="en" altLang="zh-CN" sz="2400" dirty="0"/>
              <a:t>  </a:t>
            </a:r>
          </a:p>
          <a:p>
            <a:r>
              <a:rPr kumimoji="1" lang="en" altLang="zh-CN" sz="2400" dirty="0"/>
              <a:t> </a:t>
            </a:r>
          </a:p>
          <a:p>
            <a:endParaRPr kumimoji="1" lang="en" altLang="zh-CN" sz="2400" dirty="0"/>
          </a:p>
          <a:p>
            <a:endParaRPr kumimoji="1" lang="en" altLang="zh-CN" sz="2400" dirty="0"/>
          </a:p>
          <a:p>
            <a:r>
              <a:rPr kumimoji="1" lang="zh-CN" altLang="en-US" sz="2400" dirty="0"/>
              <a:t> </a:t>
            </a:r>
          </a:p>
          <a:p>
            <a:endParaRPr kumimoji="1" lang="e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228211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B450C2B-0A14-8183-0780-CCFB548ED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88" y="115981"/>
            <a:ext cx="10020302" cy="662603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2C181C0-5E89-5808-BD5F-E138465860E2}"/>
              </a:ext>
            </a:extLst>
          </p:cNvPr>
          <p:cNvSpPr txBox="1"/>
          <p:nvPr/>
        </p:nvSpPr>
        <p:spPr>
          <a:xfrm>
            <a:off x="0" y="614363"/>
            <a:ext cx="12715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T=10016</a:t>
            </a:r>
          </a:p>
          <a:p>
            <a:endParaRPr kumimoji="1" lang="en-US" altLang="zh-CN" b="1" dirty="0"/>
          </a:p>
          <a:p>
            <a:r>
              <a:rPr kumimoji="1" lang="en-US" altLang="zh-CN" b="1" dirty="0"/>
              <a:t>H=8</a:t>
            </a:r>
          </a:p>
          <a:p>
            <a:endParaRPr kumimoji="1" lang="en-US" altLang="zh-CN" b="1" dirty="0"/>
          </a:p>
          <a:p>
            <a:r>
              <a:rPr kumimoji="1" lang="en-US" altLang="zh-CN" b="1" dirty="0"/>
              <a:t>Hg=2</a:t>
            </a:r>
          </a:p>
          <a:p>
            <a:endParaRPr kumimoji="1" lang="en-US" altLang="zh-CN" b="1" dirty="0"/>
          </a:p>
          <a:p>
            <a:r>
              <a:rPr kumimoji="1" lang="en-US" altLang="zh-CN" b="1" dirty="0"/>
              <a:t>K=128</a:t>
            </a:r>
          </a:p>
          <a:p>
            <a:endParaRPr kumimoji="1" lang="en-US" altLang="zh-CN" b="1" dirty="0"/>
          </a:p>
          <a:p>
            <a:r>
              <a:rPr kumimoji="1" lang="en-US" altLang="zh-CN" b="1" dirty="0"/>
              <a:t>Duration=269 us</a:t>
            </a:r>
          </a:p>
          <a:p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183303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029FE-0DB9-B279-6766-7A44E902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5E35327-4A96-62A1-03FC-F7F55CB4EC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BC1B2134-9E6A-D88E-6ABF-92A5CFD8E693}"/>
              </a:ext>
            </a:extLst>
          </p:cNvPr>
          <p:cNvSpPr txBox="1">
            <a:spLocks/>
          </p:cNvSpPr>
          <p:nvPr/>
        </p:nvSpPr>
        <p:spPr>
          <a:xfrm>
            <a:off x="641443" y="262227"/>
            <a:ext cx="9788431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三、算子性能优化：  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V2: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转换成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AIC/AIV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完全分离的架构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007BC5C-170A-7A2E-9786-8AFF85CC8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41" y="1326882"/>
            <a:ext cx="11170820" cy="151176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A3FFF94-CD27-90E7-3C15-4C6E55DC5579}"/>
              </a:ext>
            </a:extLst>
          </p:cNvPr>
          <p:cNvSpPr txBox="1"/>
          <p:nvPr/>
        </p:nvSpPr>
        <p:spPr>
          <a:xfrm>
            <a:off x="1140618" y="3015000"/>
            <a:ext cx="610076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" altLang="zh-CN" sz="2000" dirty="0">
                <a:latin typeface="+mn-ea"/>
              </a:rPr>
              <a:t>AIC:</a:t>
            </a:r>
          </a:p>
          <a:p>
            <a:pPr rtl="0">
              <a:buNone/>
            </a:pPr>
            <a:r>
              <a:rPr lang="en" altLang="zh-CN" sz="2000" dirty="0">
                <a:latin typeface="+mn-ea"/>
              </a:rPr>
              <a:t>K @ K^T</a:t>
            </a:r>
          </a:p>
          <a:p>
            <a:pPr rtl="0">
              <a:buNone/>
            </a:pPr>
            <a:r>
              <a:rPr lang="en" altLang="zh-CN" sz="2000" dirty="0">
                <a:latin typeface="+mn-ea"/>
              </a:rPr>
              <a:t>→ FP32 KKT</a:t>
            </a:r>
          </a:p>
          <a:p>
            <a:pPr rtl="0">
              <a:buNone/>
            </a:pPr>
            <a:r>
              <a:rPr lang="en" altLang="zh-CN" sz="2000" dirty="0">
                <a:latin typeface="+mn-ea"/>
              </a:rPr>
              <a:t>→ </a:t>
            </a:r>
            <a:r>
              <a:rPr lang="zh-CN" altLang="en-US" sz="2000" dirty="0">
                <a:latin typeface="+mn-ea"/>
              </a:rPr>
              <a:t>写入 </a:t>
            </a:r>
            <a:r>
              <a:rPr lang="en" altLang="zh-CN" sz="2000" dirty="0">
                <a:latin typeface="+mn-ea"/>
              </a:rPr>
              <a:t>GM user workspace</a:t>
            </a:r>
          </a:p>
          <a:p>
            <a:pPr rtl="0">
              <a:buNone/>
            </a:pPr>
            <a:r>
              <a:rPr lang="en" altLang="zh-CN" sz="2000" dirty="0">
                <a:latin typeface="+mn-ea"/>
              </a:rPr>
              <a:t>→ </a:t>
            </a:r>
            <a:r>
              <a:rPr lang="en" altLang="zh-CN" sz="2000" dirty="0" err="1">
                <a:latin typeface="+mn-ea"/>
              </a:rPr>
              <a:t>SyncAll</a:t>
            </a:r>
            <a:r>
              <a:rPr lang="en" altLang="zh-CN" sz="2000" dirty="0">
                <a:latin typeface="+mn-ea"/>
              </a:rPr>
              <a:t>&lt;false&gt;()</a:t>
            </a:r>
          </a:p>
          <a:p>
            <a:pPr rtl="0">
              <a:buNone/>
            </a:pPr>
            <a:endParaRPr lang="en" altLang="zh-CN" sz="2000" dirty="0">
              <a:latin typeface="+mn-ea"/>
            </a:endParaRPr>
          </a:p>
          <a:p>
            <a:pPr rtl="0">
              <a:buNone/>
            </a:pPr>
            <a:r>
              <a:rPr lang="en" altLang="zh-CN" sz="2000" dirty="0">
                <a:latin typeface="+mn-ea"/>
              </a:rPr>
              <a:t>AIV:</a:t>
            </a:r>
          </a:p>
          <a:p>
            <a:pPr rtl="0">
              <a:buNone/>
            </a:pPr>
            <a:r>
              <a:rPr lang="en" altLang="zh-CN" sz="2000" dirty="0" err="1">
                <a:latin typeface="+mn-ea"/>
              </a:rPr>
              <a:t>SyncAll</a:t>
            </a:r>
            <a:r>
              <a:rPr lang="en" altLang="zh-CN" sz="2000" dirty="0">
                <a:latin typeface="+mn-ea"/>
              </a:rPr>
              <a:t>&lt;false&gt;()</a:t>
            </a:r>
          </a:p>
          <a:p>
            <a:pPr rtl="0">
              <a:buNone/>
            </a:pPr>
            <a:r>
              <a:rPr lang="en" altLang="zh-CN" sz="2000" dirty="0">
                <a:latin typeface="+mn-ea"/>
              </a:rPr>
              <a:t>→ </a:t>
            </a:r>
            <a:r>
              <a:rPr lang="zh-CN" altLang="en-US" sz="2000" dirty="0">
                <a:latin typeface="+mn-ea"/>
              </a:rPr>
              <a:t>从 </a:t>
            </a:r>
            <a:r>
              <a:rPr lang="en" altLang="zh-CN" sz="2000" dirty="0">
                <a:latin typeface="+mn-ea"/>
              </a:rPr>
              <a:t>GM user workspace </a:t>
            </a:r>
            <a:r>
              <a:rPr lang="zh-CN" altLang="en-US" sz="2000" dirty="0">
                <a:latin typeface="+mn-ea"/>
              </a:rPr>
              <a:t>读取 </a:t>
            </a:r>
            <a:r>
              <a:rPr lang="en" altLang="zh-CN" sz="2000" dirty="0">
                <a:latin typeface="+mn-ea"/>
              </a:rPr>
              <a:t>KKT</a:t>
            </a:r>
          </a:p>
          <a:p>
            <a:pPr rtl="0">
              <a:buNone/>
            </a:pPr>
            <a:r>
              <a:rPr lang="en" altLang="zh-CN" sz="2000" dirty="0">
                <a:latin typeface="+mn-ea"/>
              </a:rPr>
              <a:t>→ gate / beta / exp / mask / Mul</a:t>
            </a:r>
          </a:p>
          <a:p>
            <a:pPr rtl="0">
              <a:buNone/>
            </a:pPr>
            <a:r>
              <a:rPr lang="en" altLang="zh-CN" sz="2000" dirty="0">
                <a:latin typeface="+mn-ea"/>
              </a:rPr>
              <a:t>→ </a:t>
            </a:r>
            <a:r>
              <a:rPr lang="zh-CN" altLang="en-US" sz="2000" dirty="0">
                <a:latin typeface="+mn-ea"/>
              </a:rPr>
              <a:t>写回 </a:t>
            </a:r>
            <a:r>
              <a:rPr lang="en" altLang="zh-CN" sz="2000" dirty="0">
                <a:latin typeface="+mn-ea"/>
              </a:rPr>
              <a:t>output</a:t>
            </a:r>
          </a:p>
        </p:txBody>
      </p:sp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D9E21AE3-D45E-0728-7DA5-FD264B1E8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865" y="3290559"/>
            <a:ext cx="5225726" cy="27574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E4883A3-174F-453D-C528-492D8E3C2CA7}"/>
              </a:ext>
            </a:extLst>
          </p:cNvPr>
          <p:cNvSpPr txBox="1"/>
          <p:nvPr/>
        </p:nvSpPr>
        <p:spPr>
          <a:xfrm>
            <a:off x="6568865" y="2744872"/>
            <a:ext cx="3559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AIV</a:t>
            </a:r>
            <a:r>
              <a:rPr kumimoji="1" lang="zh-CN" altLang="en-US" dirty="0"/>
              <a:t>中占据</a:t>
            </a:r>
            <a:r>
              <a:rPr kumimoji="1" lang="en-US" altLang="zh-CN" dirty="0"/>
              <a:t>cycle</a:t>
            </a:r>
            <a:r>
              <a:rPr kumimoji="1" lang="zh-CN" altLang="en-US" dirty="0"/>
              <a:t>数前十的指令</a:t>
            </a:r>
          </a:p>
        </p:txBody>
      </p:sp>
    </p:spTree>
    <p:extLst>
      <p:ext uri="{BB962C8B-B14F-4D97-AF65-F5344CB8AC3E}">
        <p14:creationId xmlns:p14="http://schemas.microsoft.com/office/powerpoint/2010/main" val="2028717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88156-FF87-5E73-05A7-45BE0EFD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28DCA1E-38FD-D9DA-020A-7C20BC6D77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F52EB29-66B7-1865-EF5F-2C5365D4D799}"/>
              </a:ext>
            </a:extLst>
          </p:cNvPr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00DF207A-420E-AFFA-B862-F2666D800CD8}"/>
              </a:ext>
            </a:extLst>
          </p:cNvPr>
          <p:cNvSpPr txBox="1">
            <a:spLocks/>
          </p:cNvSpPr>
          <p:nvPr/>
        </p:nvSpPr>
        <p:spPr>
          <a:xfrm>
            <a:off x="641443" y="262227"/>
            <a:ext cx="11060020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三、算子优化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V2</a:t>
            </a:r>
            <a:r>
              <a:rPr kumimoji="1"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优化：</a:t>
            </a:r>
            <a:r>
              <a:rPr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 </a:t>
            </a:r>
            <a:r>
              <a:rPr lang="en" altLang="zh-CN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AIC/AIV </a:t>
            </a:r>
            <a:r>
              <a:rPr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独立阶段做 </a:t>
            </a:r>
            <a:r>
              <a:rPr lang="en" altLang="zh-CN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Vector </a:t>
            </a:r>
            <a:r>
              <a:rPr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针对性优化</a:t>
            </a:r>
            <a:endParaRPr kumimoji="1" lang="zh-CN" altLang="en-US" sz="3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42B80896-30FB-9012-A210-877143890090}"/>
              </a:ext>
            </a:extLst>
          </p:cNvPr>
          <p:cNvSpPr txBox="1">
            <a:spLocks/>
          </p:cNvSpPr>
          <p:nvPr/>
        </p:nvSpPr>
        <p:spPr>
          <a:xfrm>
            <a:off x="652462" y="1270659"/>
            <a:ext cx="5591176" cy="5222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1"/>
              <a:t>Brcb</a:t>
            </a:r>
          </a:p>
          <a:p>
            <a:r>
              <a:rPr kumimoji="1" lang="en-US" altLang="zh-CN"/>
              <a:t>V1:</a:t>
            </a:r>
            <a:r>
              <a:rPr kumimoji="1" lang="zh-CN" altLang="en-US"/>
              <a:t>通过逐行的</a:t>
            </a:r>
            <a:r>
              <a:rPr kumimoji="1" lang="en-US" altLang="zh-CN"/>
              <a:t>GetValue</a:t>
            </a:r>
            <a:r>
              <a:rPr kumimoji="1" lang="zh-CN" altLang="en-US"/>
              <a:t>来获取</a:t>
            </a:r>
            <a:r>
              <a:rPr kumimoji="1" lang="en-US" altLang="zh-CN"/>
              <a:t>g</a:t>
            </a:r>
            <a:r>
              <a:rPr kumimoji="1" lang="zh-CN" altLang="en-US"/>
              <a:t>和</a:t>
            </a:r>
            <a:r>
              <a:rPr kumimoji="1" lang="en-US" altLang="zh-CN"/>
              <a:t>beta</a:t>
            </a:r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1449EF-DCCB-B95D-A45A-369E1916CD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648"/>
          <a:stretch>
            <a:fillRect/>
          </a:stretch>
        </p:blipFill>
        <p:spPr>
          <a:xfrm>
            <a:off x="295275" y="2352675"/>
            <a:ext cx="5591176" cy="3924300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F8DFCF6-DA4E-E98B-6A5F-4C41F9970658}"/>
              </a:ext>
            </a:extLst>
          </p:cNvPr>
          <p:cNvSpPr txBox="1">
            <a:spLocks/>
          </p:cNvSpPr>
          <p:nvPr/>
        </p:nvSpPr>
        <p:spPr>
          <a:xfrm>
            <a:off x="6243638" y="1270659"/>
            <a:ext cx="5591176" cy="5222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zh-CN" sz="2400" dirty="0"/>
              <a:t>V2:</a:t>
            </a:r>
            <a:r>
              <a:rPr kumimoji="1" lang="zh-CN" altLang="en-US" sz="2400" dirty="0"/>
              <a:t>通过</a:t>
            </a:r>
            <a:r>
              <a:rPr kumimoji="1" lang="en-US" altLang="zh-CN" sz="2400" dirty="0" err="1"/>
              <a:t>Brcb</a:t>
            </a:r>
            <a:r>
              <a:rPr kumimoji="1" lang="zh-CN" altLang="en-US" sz="2400" dirty="0"/>
              <a:t>的</a:t>
            </a:r>
            <a:r>
              <a:rPr kumimoji="1" lang="en-US" altLang="zh-CN" sz="2400" dirty="0"/>
              <a:t>vector</a:t>
            </a:r>
            <a:r>
              <a:rPr kumimoji="1" lang="zh-CN" altLang="en-US" sz="2400" dirty="0"/>
              <a:t>指令，将</a:t>
            </a:r>
            <a:r>
              <a:rPr kumimoji="1" lang="en-US" altLang="zh-CN" sz="2400" dirty="0"/>
              <a:t>g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beta</a:t>
            </a:r>
            <a:r>
              <a:rPr kumimoji="1" lang="zh-CN" altLang="en-US" sz="2400" dirty="0"/>
              <a:t>向量化，从而可以以更少的</a:t>
            </a:r>
            <a:r>
              <a:rPr kumimoji="1" lang="en-US" altLang="zh-CN" sz="2400" dirty="0"/>
              <a:t>scalar</a:t>
            </a:r>
            <a:r>
              <a:rPr kumimoji="1" lang="zh-CN" altLang="en-US" sz="2400" dirty="0"/>
              <a:t>指令获取</a:t>
            </a:r>
            <a:r>
              <a:rPr kumimoji="1" lang="en-US" altLang="zh-CN" sz="2400" dirty="0"/>
              <a:t>diff</a:t>
            </a:r>
            <a:r>
              <a:rPr kumimoji="1" lang="zh-CN" altLang="en-US" sz="2400" dirty="0"/>
              <a:t>以及乘上</a:t>
            </a:r>
            <a:r>
              <a:rPr kumimoji="1" lang="en-US" altLang="zh-CN" sz="2400" dirty="0"/>
              <a:t>beta</a:t>
            </a:r>
            <a:endParaRPr kumimoji="1"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DF71C3-FBA1-1B1C-E6EC-67E57BC3E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25" y="2743201"/>
            <a:ext cx="3304370" cy="265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175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CB707-D064-DB4F-E1FE-9CDA9341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2D2C80FD-1B7D-C2C2-7E00-EACB2FC015E0}"/>
              </a:ext>
            </a:extLst>
          </p:cNvPr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F4EFA21-444A-CA4E-27CD-94083E263BEC}"/>
              </a:ext>
            </a:extLst>
          </p:cNvPr>
          <p:cNvSpPr txBox="1">
            <a:spLocks/>
          </p:cNvSpPr>
          <p:nvPr/>
        </p:nvSpPr>
        <p:spPr>
          <a:xfrm>
            <a:off x="641443" y="262227"/>
            <a:ext cx="11060020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三、算子优化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V2</a:t>
            </a:r>
            <a:r>
              <a:rPr kumimoji="1"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优化：</a:t>
            </a:r>
            <a:r>
              <a:rPr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 </a:t>
            </a:r>
            <a:r>
              <a:rPr lang="en" altLang="zh-CN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AIC/AIV </a:t>
            </a:r>
            <a:r>
              <a:rPr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独立阶段做 </a:t>
            </a:r>
            <a:r>
              <a:rPr lang="en" altLang="zh-CN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Vector </a:t>
            </a:r>
            <a:r>
              <a:rPr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针对性优化</a:t>
            </a:r>
            <a:endParaRPr kumimoji="1" lang="zh-CN" altLang="en-US" sz="3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05A5927-AE0F-CB3B-60D7-39CB11E38F51}"/>
              </a:ext>
            </a:extLst>
          </p:cNvPr>
          <p:cNvSpPr txBox="1">
            <a:spLocks/>
          </p:cNvSpPr>
          <p:nvPr/>
        </p:nvSpPr>
        <p:spPr>
          <a:xfrm>
            <a:off x="652462" y="1270659"/>
            <a:ext cx="5048252" cy="5222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1"/>
              <a:t>Double-head</a:t>
            </a:r>
          </a:p>
          <a:p>
            <a:r>
              <a:rPr kumimoji="1" lang="en-US" altLang="zh-CN"/>
              <a:t>V1:</a:t>
            </a:r>
            <a:r>
              <a:rPr kumimoji="1" lang="zh-CN" altLang="en-US"/>
              <a:t>每个</a:t>
            </a:r>
            <a:r>
              <a:rPr kumimoji="1" lang="en-US" altLang="zh-CN"/>
              <a:t>AIV</a:t>
            </a:r>
            <a:r>
              <a:rPr kumimoji="1" lang="zh-CN" altLang="en-US"/>
              <a:t>在一次任务中只搬取和计算一个</a:t>
            </a:r>
            <a:r>
              <a:rPr kumimoji="1" lang="en-US" altLang="zh-CN"/>
              <a:t>query</a:t>
            </a:r>
            <a:r>
              <a:rPr kumimoji="1" lang="zh-CN" altLang="en-US"/>
              <a:t> </a:t>
            </a:r>
            <a:r>
              <a:rPr kumimoji="1" lang="en-US" altLang="zh-CN"/>
              <a:t>head</a:t>
            </a:r>
            <a:r>
              <a:rPr kumimoji="1" lang="zh-CN" altLang="en-US"/>
              <a:t>中的</a:t>
            </a:r>
            <a:r>
              <a:rPr kumimoji="1" lang="en-US" altLang="zh-CN"/>
              <a:t>g</a:t>
            </a:r>
            <a:r>
              <a:rPr kumimoji="1" lang="zh-CN" altLang="en-US"/>
              <a:t>和</a:t>
            </a:r>
            <a:r>
              <a:rPr kumimoji="1" lang="en-US" altLang="zh-CN"/>
              <a:t>beta</a:t>
            </a:r>
          </a:p>
          <a:p>
            <a:endParaRPr kumimoji="1" lang="en-US" altLang="zh-CN"/>
          </a:p>
          <a:p>
            <a:r>
              <a:rPr kumimoji="1" lang="zh-CN" altLang="en-US"/>
              <a:t>实际：</a:t>
            </a:r>
            <a:endParaRPr kumimoji="1" lang="en-US" altLang="zh-CN"/>
          </a:p>
          <a:p>
            <a:r>
              <a:rPr kumimoji="1" lang="en" altLang="zh-CN"/>
              <a:t>head 0 ─┐</a:t>
            </a:r>
          </a:p>
          <a:p>
            <a:r>
              <a:rPr kumimoji="1" lang="en" altLang="zh-CN"/>
              <a:t>        ├── </a:t>
            </a:r>
            <a:r>
              <a:rPr kumimoji="1" lang="zh-CN" altLang="en-US"/>
              <a:t>使用同一个 </a:t>
            </a:r>
            <a:r>
              <a:rPr kumimoji="1" lang="en" altLang="zh-CN"/>
              <a:t>KKT [64,64]</a:t>
            </a:r>
          </a:p>
          <a:p>
            <a:r>
              <a:rPr kumimoji="1" lang="en" altLang="zh-CN"/>
              <a:t>head 1 ─┘</a:t>
            </a:r>
          </a:p>
          <a:p>
            <a:endParaRPr kumimoji="1" lang="en" altLang="zh-CN"/>
          </a:p>
          <a:p>
            <a:r>
              <a:rPr kumimoji="1" lang="zh-CN" altLang="en-US"/>
              <a:t>如果一个</a:t>
            </a:r>
            <a:r>
              <a:rPr kumimoji="1" lang="en-US" altLang="zh-CN"/>
              <a:t>AIV</a:t>
            </a:r>
            <a:r>
              <a:rPr kumimoji="1" lang="zh-CN" altLang="en-US"/>
              <a:t>需要处理</a:t>
            </a:r>
            <a:r>
              <a:rPr kumimoji="1" lang="en-US" altLang="zh-CN"/>
              <a:t>2</a:t>
            </a:r>
            <a:r>
              <a:rPr kumimoji="1" lang="zh-CN" altLang="en-US"/>
              <a:t>个及以上的 </a:t>
            </a:r>
            <a:r>
              <a:rPr kumimoji="1" lang="en-US" altLang="zh-CN"/>
              <a:t>head</a:t>
            </a:r>
            <a:r>
              <a:rPr kumimoji="1" lang="zh-CN" altLang="en-US"/>
              <a:t>，则可以同时处理两个，可以减少一半的</a:t>
            </a:r>
            <a:r>
              <a:rPr kumimoji="1" lang="en-US" altLang="zh-CN"/>
              <a:t>PiepBarrier</a:t>
            </a:r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AD8ACB-D728-F1A0-02F9-1A045B2D3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929" y="962189"/>
            <a:ext cx="4121571" cy="583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29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3DC78-C669-17F2-649F-45E82FD0C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8B8257C-4EFF-6D93-D4CB-527D8DFF85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782" y="6398745"/>
            <a:ext cx="1312676" cy="3484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0BD10B8-AEAF-C54C-E310-C96433EC2A41}"/>
              </a:ext>
            </a:extLst>
          </p:cNvPr>
          <p:cNvSpPr txBox="1"/>
          <p:nvPr/>
        </p:nvSpPr>
        <p:spPr>
          <a:xfrm>
            <a:off x="463039" y="6451363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49422F-D5F2-154C-8A6D-CF2E3FEEF5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1848"/>
          <a:stretch>
            <a:fillRect/>
          </a:stretch>
        </p:blipFill>
        <p:spPr>
          <a:xfrm>
            <a:off x="926970" y="3891764"/>
            <a:ext cx="10388730" cy="238711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CAAFA4E-0B71-BF23-87E4-5264B15D4A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9458"/>
          <a:stretch>
            <a:fillRect/>
          </a:stretch>
        </p:blipFill>
        <p:spPr>
          <a:xfrm>
            <a:off x="784095" y="170342"/>
            <a:ext cx="10106025" cy="2621281"/>
          </a:xfrm>
          <a:prstGeom prst="rect">
            <a:avLst/>
          </a:prstGeom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FD43724-3250-0711-0275-EF55FEBEA1B8}"/>
              </a:ext>
            </a:extLst>
          </p:cNvPr>
          <p:cNvCxnSpPr/>
          <p:nvPr/>
        </p:nvCxnSpPr>
        <p:spPr>
          <a:xfrm>
            <a:off x="5672138" y="3000375"/>
            <a:ext cx="0" cy="771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469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234DF-630F-5E0B-BB4C-83E044445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391FF14F-A1FC-6DDC-29D9-642EE661FD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EAA30FA-C835-CF73-6C32-EE92F67D27FB}"/>
              </a:ext>
            </a:extLst>
          </p:cNvPr>
          <p:cNvSpPr txBox="1"/>
          <p:nvPr/>
        </p:nvSpPr>
        <p:spPr>
          <a:xfrm>
            <a:off x="398332" y="5468086"/>
            <a:ext cx="11272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T=10016</a:t>
            </a:r>
            <a:r>
              <a:rPr kumimoji="1" lang="zh-CN" altLang="en-US" dirty="0"/>
              <a:t> </a:t>
            </a:r>
            <a:r>
              <a:rPr kumimoji="1" lang="en-US" altLang="zh-CN" dirty="0"/>
              <a:t>H=8</a:t>
            </a:r>
            <a:r>
              <a:rPr kumimoji="1" lang="zh-CN" altLang="en-US" dirty="0"/>
              <a:t> </a:t>
            </a:r>
            <a:r>
              <a:rPr kumimoji="1" lang="en-US" altLang="zh-CN" dirty="0"/>
              <a:t>Hg=2</a:t>
            </a:r>
            <a:r>
              <a:rPr kumimoji="1" lang="zh-CN" altLang="en-US" dirty="0"/>
              <a:t> </a:t>
            </a:r>
            <a:r>
              <a:rPr kumimoji="1" lang="en-US" altLang="zh-CN" dirty="0"/>
              <a:t>K=128</a:t>
            </a:r>
            <a:r>
              <a:rPr kumimoji="1" lang="zh-CN" altLang="en-US" dirty="0"/>
              <a:t>    </a:t>
            </a:r>
            <a:r>
              <a:rPr kumimoji="1" lang="en-US" altLang="zh-CN" dirty="0"/>
              <a:t>AIC</a:t>
            </a:r>
            <a:r>
              <a:rPr kumimoji="1" lang="zh-CN" altLang="en-US" dirty="0"/>
              <a:t>：</a:t>
            </a:r>
            <a:r>
              <a:rPr kumimoji="1" lang="en-US" altLang="zh-CN" dirty="0"/>
              <a:t>AIV</a:t>
            </a:r>
            <a:r>
              <a:rPr kumimoji="1" lang="zh-CN" altLang="en-US" dirty="0"/>
              <a:t> </a:t>
            </a:r>
            <a:r>
              <a:rPr kumimoji="1" lang="en-US" altLang="zh-CN" dirty="0"/>
              <a:t>duration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  <a:r>
              <a:rPr kumimoji="1" lang="zh-CN" altLang="en-US" dirty="0"/>
              <a:t> ：</a:t>
            </a:r>
            <a:r>
              <a:rPr kumimoji="1" lang="en-US" altLang="zh-CN" dirty="0"/>
              <a:t>3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最理想的流水状况下，最多可以节约大约</a:t>
            </a:r>
            <a:r>
              <a:rPr kumimoji="1" lang="en-US" altLang="zh-CN" dirty="0"/>
              <a:t>33%</a:t>
            </a:r>
            <a:r>
              <a:rPr kumimoji="1" lang="zh-CN" altLang="en-US" dirty="0"/>
              <a:t>的时间</a:t>
            </a:r>
            <a:endParaRPr kumimoji="1"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A820561-5825-E10B-D9B2-C5A0BB8794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1848"/>
          <a:stretch>
            <a:fillRect/>
          </a:stretch>
        </p:blipFill>
        <p:spPr>
          <a:xfrm>
            <a:off x="398332" y="1877227"/>
            <a:ext cx="10388730" cy="238711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8AFC1CA-E5DE-598E-9544-C28C2DD85357}"/>
              </a:ext>
            </a:extLst>
          </p:cNvPr>
          <p:cNvSpPr txBox="1"/>
          <p:nvPr/>
        </p:nvSpPr>
        <p:spPr>
          <a:xfrm>
            <a:off x="398332" y="4528773"/>
            <a:ext cx="6100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AIC  KKT0  </a:t>
            </a:r>
            <a:r>
              <a:rPr lang="en-US" altLang="zh-CN" b="1" dirty="0"/>
              <a:t>   </a:t>
            </a:r>
            <a:r>
              <a:rPr lang="zh-CN" altLang="en-US" b="1" dirty="0"/>
              <a:t>KKT1  </a:t>
            </a:r>
            <a:r>
              <a:rPr lang="en-US" altLang="zh-CN" b="1" dirty="0"/>
              <a:t>        </a:t>
            </a:r>
            <a:r>
              <a:rPr lang="zh-CN" altLang="en-US" b="1" dirty="0"/>
              <a:t>KKT2  </a:t>
            </a:r>
            <a:r>
              <a:rPr lang="en-US" altLang="zh-CN" b="1" dirty="0"/>
              <a:t>            </a:t>
            </a:r>
            <a:r>
              <a:rPr lang="zh-CN" altLang="en-US" b="1" dirty="0"/>
              <a:t>KKT3</a:t>
            </a:r>
            <a:r>
              <a:rPr lang="en-US" altLang="zh-CN" b="1" dirty="0"/>
              <a:t>……</a:t>
            </a:r>
            <a:endParaRPr lang="zh-CN" altLang="en-US" b="1" dirty="0"/>
          </a:p>
          <a:p>
            <a:r>
              <a:rPr lang="zh-CN" altLang="en-US" b="1" dirty="0"/>
              <a:t>AIV        Vec0  </a:t>
            </a:r>
            <a:r>
              <a:rPr lang="en-US" altLang="zh-CN" b="1" dirty="0"/>
              <a:t>        </a:t>
            </a:r>
            <a:r>
              <a:rPr lang="zh-CN" altLang="en-US" b="1" dirty="0"/>
              <a:t>Vec1  </a:t>
            </a:r>
            <a:r>
              <a:rPr lang="en-US" altLang="zh-CN" b="1" dirty="0"/>
              <a:t>          </a:t>
            </a:r>
            <a:r>
              <a:rPr lang="zh-CN" altLang="en-US" b="1" dirty="0"/>
              <a:t>Vec2</a:t>
            </a:r>
            <a:r>
              <a:rPr lang="en-US" altLang="zh-CN" b="1" dirty="0"/>
              <a:t>             Vec3……</a:t>
            </a:r>
            <a:endParaRPr lang="zh-CN" altLang="en-US" b="1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AE30C957-F292-DCDD-AE3C-8DF5DF77809A}"/>
              </a:ext>
            </a:extLst>
          </p:cNvPr>
          <p:cNvSpPr txBox="1">
            <a:spLocks/>
          </p:cNvSpPr>
          <p:nvPr/>
        </p:nvSpPr>
        <p:spPr>
          <a:xfrm>
            <a:off x="641443" y="262227"/>
            <a:ext cx="11060020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三、算子优化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V3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优化： 做出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AIV/AIC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流水，隐藏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AIC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时间</a:t>
            </a:r>
            <a:endParaRPr kumimoji="1" lang="zh-CN" altLang="en-US" sz="3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1799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2E254-AABA-9291-13F9-18096A1D6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31BA7E1-F44F-8B4E-0411-68F839122E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89233EB-5834-AD9A-9A2F-C43813DDDBBD}"/>
              </a:ext>
            </a:extLst>
          </p:cNvPr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933C332-54D1-0E74-2D61-DD42EC8098BB}"/>
              </a:ext>
            </a:extLst>
          </p:cNvPr>
          <p:cNvSpPr txBox="1">
            <a:spLocks/>
          </p:cNvSpPr>
          <p:nvPr/>
        </p:nvSpPr>
        <p:spPr>
          <a:xfrm>
            <a:off x="641443" y="262227"/>
            <a:ext cx="11060020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三、算子优化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V3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优化：双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slot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AIC/AIV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并行</a:t>
            </a:r>
            <a:endParaRPr kumimoji="1" lang="zh-CN" altLang="en-US" sz="3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EFEAA2-2E3E-A76C-98B3-1E2906D79418}"/>
              </a:ext>
            </a:extLst>
          </p:cNvPr>
          <p:cNvSpPr txBox="1"/>
          <p:nvPr/>
        </p:nvSpPr>
        <p:spPr>
          <a:xfrm>
            <a:off x="552448" y="1054760"/>
            <a:ext cx="7967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双 </a:t>
            </a:r>
            <a:r>
              <a:rPr lang="en" altLang="zh-CN" sz="2400" dirty="0"/>
              <a:t>slot</a:t>
            </a:r>
            <a:r>
              <a:rPr lang="zh-CN" altLang="en" sz="2400" dirty="0"/>
              <a:t>：</a:t>
            </a:r>
            <a:r>
              <a:rPr lang="zh-CN" altLang="en-US" sz="2400" dirty="0"/>
              <a:t>实现 </a:t>
            </a:r>
            <a:r>
              <a:rPr lang="en" altLang="zh-CN" sz="2400" dirty="0"/>
              <a:t>AIC/AIV </a:t>
            </a:r>
            <a:r>
              <a:rPr lang="zh-CN" altLang="en-US" sz="2400" dirty="0"/>
              <a:t>的 </a:t>
            </a:r>
            <a:r>
              <a:rPr lang="en" altLang="zh-CN" sz="2400" dirty="0"/>
              <a:t>Producer–Consumer </a:t>
            </a:r>
            <a:r>
              <a:rPr lang="zh-CN" altLang="en-US" sz="2400" dirty="0"/>
              <a:t>流水并行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4E7A5B-478A-5548-E644-479C42BD20C8}"/>
              </a:ext>
            </a:extLst>
          </p:cNvPr>
          <p:cNvSpPr txBox="1"/>
          <p:nvPr/>
        </p:nvSpPr>
        <p:spPr>
          <a:xfrm>
            <a:off x="552449" y="1961421"/>
            <a:ext cx="110598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time ───────────────────────────────────&gt;</a:t>
            </a:r>
          </a:p>
          <a:p>
            <a:endParaRPr lang="zh-CN" altLang="en-US" sz="1600" b="1" dirty="0"/>
          </a:p>
          <a:p>
            <a:r>
              <a:rPr lang="zh-CN" altLang="en-US" sz="1600" b="1" dirty="0"/>
              <a:t>slot0:</a:t>
            </a:r>
          </a:p>
          <a:p>
            <a:r>
              <a:rPr lang="zh-CN" altLang="en-US" sz="1600" b="1" dirty="0"/>
              <a:t>AIC  KKT0 ──READY──&gt; AIV Load KKT0 ──FREE──&gt; AIC KKT2</a:t>
            </a:r>
          </a:p>
          <a:p>
            <a:endParaRPr lang="zh-CN" altLang="en-US" sz="1600" b="1" dirty="0"/>
          </a:p>
          <a:p>
            <a:r>
              <a:rPr lang="zh-CN" altLang="en-US" sz="1600" b="1" dirty="0"/>
              <a:t>slot1:</a:t>
            </a:r>
          </a:p>
          <a:p>
            <a:r>
              <a:rPr lang="zh-CN" altLang="en-US" sz="1600" b="1" dirty="0"/>
              <a:t>                                               AIC KKT1 ──READY──&gt; AIV Load KKT1 ──FREE──&gt; AIC KKT3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66821D-7909-D83D-EDF8-91EAF0594BE9}"/>
              </a:ext>
            </a:extLst>
          </p:cNvPr>
          <p:cNvSpPr txBox="1"/>
          <p:nvPr/>
        </p:nvSpPr>
        <p:spPr>
          <a:xfrm>
            <a:off x="421817" y="4078552"/>
            <a:ext cx="108848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“双 </a:t>
            </a:r>
            <a:r>
              <a:rPr lang="en" altLang="zh-CN" sz="2400" dirty="0"/>
              <a:t>slot”</a:t>
            </a:r>
            <a:r>
              <a:rPr lang="zh-CN" altLang="en-US" sz="2400" dirty="0"/>
              <a:t>本身不是直接“让 </a:t>
            </a:r>
            <a:r>
              <a:rPr lang="en" altLang="zh-CN" sz="2400" dirty="0"/>
              <a:t>AIC </a:t>
            </a:r>
            <a:r>
              <a:rPr lang="zh-CN" altLang="en-US" sz="2400" dirty="0"/>
              <a:t>和 </a:t>
            </a:r>
            <a:r>
              <a:rPr lang="en" altLang="zh-CN" sz="2400" dirty="0"/>
              <a:t>AIV </a:t>
            </a:r>
            <a:r>
              <a:rPr lang="zh-CN" altLang="en-US" sz="2400" dirty="0"/>
              <a:t>同时算”，而是通过两个 </a:t>
            </a:r>
            <a:r>
              <a:rPr lang="en" altLang="zh-CN" sz="2400" dirty="0"/>
              <a:t>workspace slot </a:t>
            </a:r>
            <a:r>
              <a:rPr lang="zh-CN" altLang="en-US" sz="2400" dirty="0"/>
              <a:t>交替复用，避免 </a:t>
            </a:r>
            <a:r>
              <a:rPr lang="en" altLang="zh-CN" sz="2400" dirty="0"/>
              <a:t>producer </a:t>
            </a:r>
            <a:r>
              <a:rPr lang="zh-CN" altLang="en-US" sz="2400" dirty="0"/>
              <a:t>和 </a:t>
            </a:r>
            <a:r>
              <a:rPr lang="en" altLang="zh-CN" sz="2400" dirty="0"/>
              <a:t>consumer </a:t>
            </a:r>
            <a:r>
              <a:rPr lang="zh-CN" altLang="en-US" sz="2400" dirty="0"/>
              <a:t>因为同一块中间结果存储而互相阻塞，从而实现：</a:t>
            </a:r>
          </a:p>
          <a:p>
            <a:r>
              <a:rPr lang="en" altLang="zh-CN" sz="2400" dirty="0"/>
              <a:t>AIC(t+1)</a:t>
            </a:r>
            <a:r>
              <a:rPr lang="zh-CN" altLang="en-US" sz="2400" dirty="0"/>
              <a:t> </a:t>
            </a:r>
            <a:r>
              <a:rPr lang="en-US" altLang="zh-CN" sz="2400" dirty="0"/>
              <a:t>|| </a:t>
            </a:r>
            <a:r>
              <a:rPr lang="en" altLang="zh-CN" sz="2400" dirty="0"/>
              <a:t>AIV(t)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08484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B78E-91CE-6408-C198-49B9A40B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8C4728C-AFFD-DFF8-07FE-93A1847DEA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376675"/>
            <a:ext cx="1312676" cy="3484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19F28D28-CE65-2E9F-2DFB-2F2DC901AE0D}"/>
              </a:ext>
            </a:extLst>
          </p:cNvPr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F43EA8-8B08-4614-94D8-76C35DB76721}"/>
              </a:ext>
            </a:extLst>
          </p:cNvPr>
          <p:cNvSpPr txBox="1"/>
          <p:nvPr/>
        </p:nvSpPr>
        <p:spPr>
          <a:xfrm>
            <a:off x="552449" y="1740575"/>
            <a:ext cx="2105026" cy="2031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原始串行</a:t>
            </a:r>
            <a:endParaRPr lang="en-US" altLang="zh-CN" dirty="0"/>
          </a:p>
          <a:p>
            <a:r>
              <a:rPr lang="zh-CN" altLang="en-US" dirty="0"/>
              <a:t>Wait READY</a:t>
            </a:r>
          </a:p>
          <a:p>
            <a:r>
              <a:rPr lang="zh-CN" altLang="en-US" dirty="0"/>
              <a:t>→ Load KKT</a:t>
            </a:r>
          </a:p>
          <a:p>
            <a:r>
              <a:rPr lang="zh-CN" altLang="en-US" dirty="0"/>
              <a:t>→ Load g / beta</a:t>
            </a:r>
          </a:p>
          <a:p>
            <a:r>
              <a:rPr lang="zh-CN" altLang="en-US" dirty="0"/>
              <a:t>→ Build Factor</a:t>
            </a:r>
          </a:p>
          <a:p>
            <a:r>
              <a:rPr lang="zh-CN" altLang="en-US" dirty="0"/>
              <a:t>→ Mul KKT</a:t>
            </a:r>
          </a:p>
          <a:p>
            <a:r>
              <a:rPr lang="zh-CN" altLang="en-US" dirty="0"/>
              <a:t>→ CopyOut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5E7545-1513-FAED-5A09-F849A73CA81A}"/>
              </a:ext>
            </a:extLst>
          </p:cNvPr>
          <p:cNvSpPr txBox="1"/>
          <p:nvPr/>
        </p:nvSpPr>
        <p:spPr>
          <a:xfrm>
            <a:off x="4599384" y="1197635"/>
            <a:ext cx="7244954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优化后：</a:t>
            </a:r>
          </a:p>
          <a:p>
            <a:r>
              <a:rPr lang="en-US" altLang="zh-CN" dirty="0"/>
              <a:t>1. </a:t>
            </a:r>
            <a:r>
              <a:rPr lang="zh-CN" altLang="en-US" dirty="0"/>
              <a:t>等待 </a:t>
            </a:r>
            <a:r>
              <a:rPr lang="en" altLang="zh-CN" dirty="0"/>
              <a:t>READY </a:t>
            </a:r>
            <a:r>
              <a:rPr lang="zh-CN" altLang="en-US" dirty="0"/>
              <a:t>前</a:t>
            </a:r>
          </a:p>
          <a:p>
            <a:r>
              <a:rPr lang="zh-CN" altLang="en-US" dirty="0"/>
              <a:t>   预取当前 </a:t>
            </a:r>
            <a:r>
              <a:rPr lang="en" altLang="zh-CN" dirty="0"/>
              <a:t>task </a:t>
            </a:r>
            <a:r>
              <a:rPr lang="zh-CN" altLang="en-US" dirty="0"/>
              <a:t>第一批 </a:t>
            </a:r>
            <a:r>
              <a:rPr lang="en" altLang="zh-CN" dirty="0"/>
              <a:t>g / beta</a:t>
            </a:r>
          </a:p>
          <a:p>
            <a:endParaRPr lang="en" altLang="zh-CN" dirty="0"/>
          </a:p>
          <a:p>
            <a:r>
              <a:rPr lang="en" altLang="zh-CN" dirty="0"/>
              <a:t>2. KKT </a:t>
            </a:r>
            <a:r>
              <a:rPr lang="zh-CN" altLang="en-US" dirty="0"/>
              <a:t>从 </a:t>
            </a:r>
            <a:r>
              <a:rPr lang="en" altLang="zh-CN" dirty="0"/>
              <a:t>workspace </a:t>
            </a:r>
            <a:r>
              <a:rPr lang="zh-CN" altLang="en-US" dirty="0"/>
              <a:t>搬入 </a:t>
            </a:r>
            <a:r>
              <a:rPr lang="en" altLang="zh-CN" dirty="0"/>
              <a:t>UB </a:t>
            </a:r>
            <a:r>
              <a:rPr lang="zh-CN" altLang="en-US" dirty="0"/>
              <a:t>时</a:t>
            </a:r>
          </a:p>
          <a:p>
            <a:r>
              <a:rPr lang="zh-CN" altLang="en-US" dirty="0"/>
              <a:t>   构造第一批 </a:t>
            </a:r>
            <a:r>
              <a:rPr lang="en" altLang="zh-CN" dirty="0"/>
              <a:t>KKT-independent Factor</a:t>
            </a:r>
          </a:p>
          <a:p>
            <a:endParaRPr lang="en" altLang="zh-CN" dirty="0"/>
          </a:p>
          <a:p>
            <a:r>
              <a:rPr lang="en" altLang="zh-CN" dirty="0"/>
              <a:t>3. KKT </a:t>
            </a:r>
            <a:r>
              <a:rPr lang="zh-CN" altLang="en-US" dirty="0"/>
              <a:t>搬运完成后</a:t>
            </a:r>
          </a:p>
          <a:p>
            <a:r>
              <a:rPr lang="zh-CN" altLang="en-US" dirty="0"/>
              <a:t>   尽早发送 </a:t>
            </a:r>
            <a:r>
              <a:rPr lang="en" altLang="zh-CN" dirty="0"/>
              <a:t>FREE</a:t>
            </a:r>
            <a:r>
              <a:rPr lang="zh-CN" altLang="en" dirty="0"/>
              <a:t>，</a:t>
            </a:r>
            <a:r>
              <a:rPr lang="zh-CN" altLang="en-US" dirty="0"/>
              <a:t>释放共享 </a:t>
            </a:r>
            <a:r>
              <a:rPr lang="en" altLang="zh-CN" dirty="0"/>
              <a:t>slot</a:t>
            </a:r>
          </a:p>
          <a:p>
            <a:endParaRPr lang="en" altLang="zh-CN" dirty="0"/>
          </a:p>
          <a:p>
            <a:r>
              <a:rPr lang="en" altLang="zh-CN" dirty="0"/>
              <a:t>4. </a:t>
            </a:r>
            <a:r>
              <a:rPr lang="zh-CN" altLang="en-US" dirty="0"/>
              <a:t>当前 </a:t>
            </a:r>
            <a:r>
              <a:rPr lang="en" altLang="zh-CN" dirty="0"/>
              <a:t>batch </a:t>
            </a:r>
            <a:r>
              <a:rPr lang="zh-CN" altLang="en-US" dirty="0"/>
              <a:t>做 </a:t>
            </a:r>
            <a:r>
              <a:rPr lang="en" altLang="zh-CN" dirty="0"/>
              <a:t>Factor / </a:t>
            </a:r>
            <a:r>
              <a:rPr lang="en" altLang="zh-CN" dirty="0" err="1"/>
              <a:t>FinalMul</a:t>
            </a:r>
            <a:r>
              <a:rPr lang="en" altLang="zh-CN" dirty="0"/>
              <a:t> </a:t>
            </a:r>
            <a:r>
              <a:rPr lang="zh-CN" altLang="en-US" dirty="0"/>
              <a:t>时</a:t>
            </a:r>
          </a:p>
          <a:p>
            <a:r>
              <a:rPr lang="zh-CN" altLang="en-US" dirty="0"/>
              <a:t>   不阻塞上一批</a:t>
            </a:r>
            <a:r>
              <a:rPr lang="en-US" altLang="zh-CN" dirty="0"/>
              <a:t>MTE3</a:t>
            </a:r>
            <a:r>
              <a:rPr lang="zh-CN" altLang="en-US" dirty="0"/>
              <a:t>的取回</a:t>
            </a:r>
          </a:p>
          <a:p>
            <a:endParaRPr lang="zh-CN" altLang="en-US" dirty="0"/>
          </a:p>
          <a:p>
            <a:r>
              <a:rPr lang="en-US" altLang="zh-CN" dirty="0"/>
              <a:t>5. </a:t>
            </a:r>
            <a:r>
              <a:rPr lang="zh-CN" altLang="en-US" dirty="0"/>
              <a:t>当前 </a:t>
            </a:r>
            <a:r>
              <a:rPr lang="en" altLang="zh-CN" dirty="0"/>
              <a:t>batch </a:t>
            </a:r>
            <a:r>
              <a:rPr lang="zh-CN" altLang="en-US" dirty="0"/>
              <a:t>计算或输出期间</a:t>
            </a:r>
          </a:p>
          <a:p>
            <a:r>
              <a:rPr lang="zh-CN" altLang="en-US" dirty="0"/>
              <a:t>   预取下一批 </a:t>
            </a:r>
            <a:r>
              <a:rPr lang="en" altLang="zh-CN" dirty="0"/>
              <a:t>g / beta</a:t>
            </a:r>
          </a:p>
          <a:p>
            <a:endParaRPr lang="en" altLang="zh-CN" dirty="0"/>
          </a:p>
          <a:p>
            <a:r>
              <a:rPr lang="en" altLang="zh-CN" dirty="0"/>
              <a:t>6. </a:t>
            </a:r>
            <a:r>
              <a:rPr lang="zh-CN" altLang="en-US" dirty="0"/>
              <a:t>达到 </a:t>
            </a:r>
            <a:r>
              <a:rPr lang="en" altLang="zh-CN" dirty="0"/>
              <a:t>output retirement window </a:t>
            </a:r>
            <a:r>
              <a:rPr lang="zh-CN" altLang="en-US" dirty="0"/>
              <a:t>后</a:t>
            </a:r>
          </a:p>
          <a:p>
            <a:r>
              <a:rPr lang="zh-CN" altLang="en-US" dirty="0"/>
              <a:t>   再统一等待 </a:t>
            </a:r>
            <a:r>
              <a:rPr lang="en" altLang="zh-CN" dirty="0"/>
              <a:t>MTE3 </a:t>
            </a:r>
            <a:r>
              <a:rPr lang="zh-CN" altLang="en-US" dirty="0"/>
              <a:t>并释放 </a:t>
            </a:r>
            <a:r>
              <a:rPr lang="en" altLang="zh-CN" dirty="0"/>
              <a:t>VECOUT Tensor</a:t>
            </a:r>
            <a:endParaRPr lang="zh-CN" altLang="en-US" dirty="0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35367E1E-C90F-00DD-7223-504689A6B927}"/>
              </a:ext>
            </a:extLst>
          </p:cNvPr>
          <p:cNvCxnSpPr/>
          <p:nvPr/>
        </p:nvCxnSpPr>
        <p:spPr>
          <a:xfrm>
            <a:off x="2843213" y="2714625"/>
            <a:ext cx="1400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标题 1">
            <a:extLst>
              <a:ext uri="{FF2B5EF4-FFF2-40B4-BE49-F238E27FC236}">
                <a16:creationId xmlns:a16="http://schemas.microsoft.com/office/drawing/2014/main" id="{7B2CB6BD-4413-5687-F7DB-3E8A7E7FBA6F}"/>
              </a:ext>
            </a:extLst>
          </p:cNvPr>
          <p:cNvSpPr txBox="1">
            <a:spLocks/>
          </p:cNvSpPr>
          <p:nvPr/>
        </p:nvSpPr>
        <p:spPr>
          <a:xfrm>
            <a:off x="641443" y="262227"/>
            <a:ext cx="11060020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三、算子优化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V3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优化：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AIV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内部流水优化</a:t>
            </a:r>
            <a:endParaRPr kumimoji="1" lang="zh-CN" altLang="en-US" sz="3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7610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04B27-E0AC-90CF-8262-BCB487366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83BB7E2-93E8-B704-99F9-A5497F2F7A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D4949D1-102C-BA3A-C34F-4AC03193295F}"/>
              </a:ext>
            </a:extLst>
          </p:cNvPr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E5DC475-AA11-82AF-B4E7-B5EF26E6B7CE}"/>
              </a:ext>
            </a:extLst>
          </p:cNvPr>
          <p:cNvSpPr txBox="1"/>
          <p:nvPr/>
        </p:nvSpPr>
        <p:spPr>
          <a:xfrm>
            <a:off x="1175895" y="1059730"/>
            <a:ext cx="1620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大致流水图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E46458-EC74-0777-BB77-2730599F6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89" y="1657039"/>
            <a:ext cx="8974396" cy="415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03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F8959-4E2B-A224-A68F-A9C92ECE0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D8C6B31-CB73-5FE7-BABB-32711F4DAA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89229D7-C7F3-F19F-1ADD-8DD5FB87B6BD}"/>
              </a:ext>
            </a:extLst>
          </p:cNvPr>
          <p:cNvSpPr txBox="1"/>
          <p:nvPr/>
        </p:nvSpPr>
        <p:spPr>
          <a:xfrm>
            <a:off x="552449" y="1054760"/>
            <a:ext cx="61007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动机：</a:t>
            </a:r>
            <a:endParaRPr lang="en-US" altLang="zh-CN" dirty="0"/>
          </a:p>
          <a:p>
            <a:r>
              <a:rPr lang="zh-CN" altLang="en-US" dirty="0"/>
              <a:t>M = N = 64 固定（除尾部一些特殊情况）</a:t>
            </a:r>
          </a:p>
          <a:p>
            <a:r>
              <a:rPr lang="zh-CN" altLang="en-US" dirty="0"/>
              <a:t>K 只有 128 / 256</a:t>
            </a:r>
          </a:p>
          <a:p>
            <a:r>
              <a:rPr lang="zh-CN" altLang="en-US" dirty="0"/>
              <a:t>Gram Matrix 结构固定：K × Kᵀ</a:t>
            </a:r>
          </a:p>
          <a:p>
            <a:r>
              <a:rPr lang="zh-CN" altLang="en-US" dirty="0"/>
              <a:t>高层 Matmul 通用性强，但存在调度和初始化开销</a:t>
            </a:r>
          </a:p>
          <a:p>
            <a:r>
              <a:rPr lang="zh-CN" altLang="en-US" dirty="0"/>
              <a:t>小 case 中固定开销更明显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5D64F7-8A30-5A0A-76BB-1BFD56A83AD2}"/>
              </a:ext>
            </a:extLst>
          </p:cNvPr>
          <p:cNvSpPr txBox="1"/>
          <p:nvPr/>
        </p:nvSpPr>
        <p:spPr>
          <a:xfrm>
            <a:off x="552449" y="2809086"/>
            <a:ext cx="433625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数据流</a:t>
            </a:r>
            <a:endParaRPr lang="en-US" altLang="zh-CN" b="1" dirty="0"/>
          </a:p>
          <a:p>
            <a:r>
              <a:rPr lang="zh-CN" altLang="en-US" b="1" dirty="0"/>
              <a:t>GM K</a:t>
            </a:r>
          </a:p>
          <a:p>
            <a:r>
              <a:rPr lang="zh-CN" altLang="en-US" b="1" dirty="0"/>
              <a:t>  ↓</a:t>
            </a:r>
          </a:p>
          <a:p>
            <a:r>
              <a:rPr lang="zh-CN" altLang="en-US" b="1" dirty="0"/>
              <a:t>L1 / A1 / B1</a:t>
            </a:r>
          </a:p>
          <a:p>
            <a:r>
              <a:rPr lang="zh-CN" altLang="en-US" b="1" dirty="0"/>
              <a:t>  ↓</a:t>
            </a:r>
          </a:p>
          <a:p>
            <a:r>
              <a:rPr lang="zh-CN" altLang="en-US" b="1" dirty="0"/>
              <a:t>L0A / L0B</a:t>
            </a:r>
          </a:p>
          <a:p>
            <a:r>
              <a:rPr lang="zh-CN" altLang="en-US" b="1" dirty="0"/>
              <a:t>  ↓</a:t>
            </a:r>
          </a:p>
          <a:p>
            <a:r>
              <a:rPr lang="zh-CN" altLang="en-US" b="1" dirty="0"/>
              <a:t>MMAD</a:t>
            </a:r>
          </a:p>
          <a:p>
            <a:r>
              <a:rPr lang="zh-CN" altLang="en-US" b="1" dirty="0"/>
              <a:t>  ↓</a:t>
            </a:r>
          </a:p>
          <a:p>
            <a:r>
              <a:rPr lang="zh-CN" altLang="en-US" b="1" dirty="0"/>
              <a:t>CO1 / L0C</a:t>
            </a:r>
          </a:p>
          <a:p>
            <a:r>
              <a:rPr lang="zh-CN" altLang="en-US" b="1" dirty="0"/>
              <a:t>  ↓</a:t>
            </a:r>
          </a:p>
          <a:p>
            <a:r>
              <a:rPr lang="zh-CN" altLang="en-US" b="1" dirty="0"/>
              <a:t>Fixpipe</a:t>
            </a:r>
          </a:p>
          <a:p>
            <a:r>
              <a:rPr lang="zh-CN" altLang="en-US" b="1" dirty="0"/>
              <a:t>  ↓</a:t>
            </a:r>
          </a:p>
          <a:p>
            <a:r>
              <a:rPr lang="zh-CN" altLang="en-US" b="1" dirty="0"/>
              <a:t>FP32 KKT workspace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9948BE0-76EC-8537-F5B6-5CF5F137C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048" y="1314449"/>
            <a:ext cx="6100762" cy="5186363"/>
          </a:xfrm>
          <a:prstGeom prst="rect">
            <a:avLst/>
          </a:prstGeom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BBFD4737-864D-1A22-381D-1687F7822DA3}"/>
              </a:ext>
            </a:extLst>
          </p:cNvPr>
          <p:cNvSpPr txBox="1">
            <a:spLocks/>
          </p:cNvSpPr>
          <p:nvPr/>
        </p:nvSpPr>
        <p:spPr>
          <a:xfrm>
            <a:off x="641443" y="262227"/>
            <a:ext cx="11060020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三、算子优化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V4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优化：低阶手写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MMAD</a:t>
            </a:r>
            <a:endParaRPr kumimoji="1" lang="zh-CN" altLang="en-US" sz="3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5517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6C9E8-5585-D1D6-E077-2E792A46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34F10AB-C3C5-BE1E-10B1-B8F31B98CA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710" y="6079351"/>
            <a:ext cx="1312676" cy="3484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B436095-3444-65B2-5D9A-3AAC7A36F997}"/>
              </a:ext>
            </a:extLst>
          </p:cNvPr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2DC8D9A-5CD5-D0AE-BA58-64CAF4E92C6F}"/>
              </a:ext>
            </a:extLst>
          </p:cNvPr>
          <p:cNvSpPr txBox="1">
            <a:spLocks/>
          </p:cNvSpPr>
          <p:nvPr/>
        </p:nvSpPr>
        <p:spPr>
          <a:xfrm>
            <a:off x="641443" y="262227"/>
            <a:ext cx="11060020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三、算子优化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V4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优化：低阶手写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MMAD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导致的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correctness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问题</a:t>
            </a:r>
            <a:endParaRPr kumimoji="1" lang="zh-CN" altLang="en-US" sz="3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CB9C64-8062-9C29-B587-8DE7654EC51E}"/>
              </a:ext>
            </a:extLst>
          </p:cNvPr>
          <p:cNvSpPr txBox="1"/>
          <p:nvPr/>
        </p:nvSpPr>
        <p:spPr>
          <a:xfrm>
            <a:off x="520714" y="1613118"/>
            <a:ext cx="4766526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" dirty="0"/>
              <a:t>最初</a:t>
            </a:r>
            <a:r>
              <a:rPr lang="zh-CN" altLang="en-US" dirty="0"/>
              <a:t>写法，没有注意到在进行</a:t>
            </a:r>
            <a:r>
              <a:rPr lang="en-US" altLang="zh-CN" dirty="0" err="1"/>
              <a:t>mmad</a:t>
            </a:r>
            <a:r>
              <a:rPr lang="zh-CN" altLang="en-US" dirty="0"/>
              <a:t>的时候，下一个</a:t>
            </a:r>
            <a:r>
              <a:rPr lang="en-US" altLang="zh-CN" dirty="0"/>
              <a:t>K-part</a:t>
            </a:r>
            <a:r>
              <a:rPr lang="zh-CN" altLang="en-US" dirty="0"/>
              <a:t>可能正在写入</a:t>
            </a:r>
            <a:r>
              <a:rPr lang="en-US" altLang="zh-CN" dirty="0"/>
              <a:t>L0A/L0B</a:t>
            </a:r>
            <a:endParaRPr lang="en" altLang="zh-CN" dirty="0"/>
          </a:p>
          <a:p>
            <a:endParaRPr lang="en" altLang="zh-CN" dirty="0"/>
          </a:p>
          <a:p>
            <a:r>
              <a:rPr lang="en" altLang="zh-CN" sz="1600" b="1" dirty="0"/>
              <a:t>GM K</a:t>
            </a:r>
          </a:p>
          <a:p>
            <a:r>
              <a:rPr lang="en" altLang="zh-CN" sz="1600" b="1" dirty="0"/>
              <a:t> ├──→ A1</a:t>
            </a:r>
          </a:p>
          <a:p>
            <a:r>
              <a:rPr lang="en" altLang="zh-CN" sz="1600" b="1" dirty="0"/>
              <a:t> └──→ B1</a:t>
            </a:r>
          </a:p>
          <a:p>
            <a:endParaRPr lang="en" altLang="zh-CN" sz="1600" b="1" dirty="0"/>
          </a:p>
          <a:p>
            <a:r>
              <a:rPr lang="en" altLang="zh-CN" sz="1600" b="1" dirty="0"/>
              <a:t>for each K-part:</a:t>
            </a:r>
          </a:p>
          <a:p>
            <a:r>
              <a:rPr lang="en" altLang="zh-CN" sz="1600" b="1" dirty="0"/>
              <a:t>    L1 → L0A / L0B</a:t>
            </a:r>
          </a:p>
          <a:p>
            <a:r>
              <a:rPr lang="en" altLang="zh-CN" sz="1600" b="1" dirty="0"/>
              <a:t>    MMAD</a:t>
            </a:r>
          </a:p>
          <a:p>
            <a:r>
              <a:rPr lang="en" altLang="zh-CN" sz="1600" b="1" dirty="0"/>
              <a:t>    </a:t>
            </a:r>
            <a:r>
              <a:rPr lang="zh-CN" altLang="en-US" sz="1600" b="1" dirty="0"/>
              <a:t>继续下一个 </a:t>
            </a:r>
            <a:r>
              <a:rPr lang="en" altLang="zh-CN" sz="1600" b="1" dirty="0"/>
              <a:t>K-part</a:t>
            </a:r>
          </a:p>
          <a:p>
            <a:endParaRPr lang="en" altLang="zh-CN" sz="1600" b="1" dirty="0"/>
          </a:p>
          <a:p>
            <a:r>
              <a:rPr lang="zh-CN" altLang="en-US" sz="1600" b="1" dirty="0"/>
              <a:t>最后：</a:t>
            </a:r>
          </a:p>
          <a:p>
            <a:r>
              <a:rPr lang="en" altLang="zh-CN" sz="1600" b="1" dirty="0"/>
              <a:t>L0C → Fixpipe → Workspace</a:t>
            </a:r>
            <a:endParaRPr lang="zh-CN" altLang="en-US" sz="16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CB2CAB-194F-81AD-4312-53E1B29A0E5C}"/>
              </a:ext>
            </a:extLst>
          </p:cNvPr>
          <p:cNvSpPr txBox="1"/>
          <p:nvPr/>
        </p:nvSpPr>
        <p:spPr>
          <a:xfrm>
            <a:off x="5560184" y="1624689"/>
            <a:ext cx="4766526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第一轮改进： </a:t>
            </a:r>
            <a:r>
              <a:rPr lang="en-US" altLang="zh-CN" dirty="0"/>
              <a:t>L0A/L0B</a:t>
            </a:r>
            <a:r>
              <a:rPr lang="zh-CN" altLang="en-US" dirty="0"/>
              <a:t>做 </a:t>
            </a:r>
            <a:r>
              <a:rPr lang="en-US" altLang="zh-CN" dirty="0"/>
              <a:t>Ping-Pong</a:t>
            </a:r>
          </a:p>
          <a:p>
            <a:endParaRPr lang="en-US" altLang="zh-CN" sz="1600" b="1" dirty="0"/>
          </a:p>
          <a:p>
            <a:r>
              <a:rPr lang="en-US" altLang="zh-CN" sz="1600" b="1" dirty="0"/>
              <a:t>L0A[0] → </a:t>
            </a:r>
            <a:r>
              <a:rPr lang="zh-CN" altLang="en-US" sz="1600" b="1" dirty="0"/>
              <a:t>独立 </a:t>
            </a:r>
            <a:r>
              <a:rPr lang="en-US" altLang="zh-CN" sz="1600" b="1" dirty="0"/>
              <a:t>event</a:t>
            </a:r>
          </a:p>
          <a:p>
            <a:r>
              <a:rPr lang="en-US" altLang="zh-CN" sz="1600" b="1" dirty="0"/>
              <a:t>L0A[1] → </a:t>
            </a:r>
            <a:r>
              <a:rPr lang="zh-CN" altLang="en-US" sz="1600" b="1" dirty="0"/>
              <a:t>独立 </a:t>
            </a:r>
            <a:r>
              <a:rPr lang="en-US" altLang="zh-CN" sz="1600" b="1" dirty="0"/>
              <a:t>event</a:t>
            </a:r>
          </a:p>
          <a:p>
            <a:r>
              <a:rPr lang="en-US" altLang="zh-CN" sz="1600" b="1" dirty="0"/>
              <a:t>L0B[0] → </a:t>
            </a:r>
            <a:r>
              <a:rPr lang="zh-CN" altLang="en-US" sz="1600" b="1" dirty="0"/>
              <a:t>独立 </a:t>
            </a:r>
            <a:r>
              <a:rPr lang="en-US" altLang="zh-CN" sz="1600" b="1" dirty="0"/>
              <a:t>event</a:t>
            </a:r>
          </a:p>
          <a:p>
            <a:r>
              <a:rPr lang="en-US" altLang="zh-CN" sz="1600" b="1" dirty="0"/>
              <a:t>L0B[1] → </a:t>
            </a:r>
            <a:r>
              <a:rPr lang="zh-CN" altLang="en-US" sz="1600" b="1" dirty="0"/>
              <a:t>独立 </a:t>
            </a:r>
            <a:r>
              <a:rPr lang="en-US" altLang="zh-CN" sz="1600" b="1" dirty="0"/>
              <a:t>event</a:t>
            </a:r>
          </a:p>
          <a:p>
            <a:r>
              <a:rPr lang="en-US" altLang="zh-CN" sz="1600" b="1" dirty="0"/>
              <a:t>(</a:t>
            </a:r>
            <a:r>
              <a:rPr lang="zh-CN" altLang="en-US" sz="1600" b="1" dirty="0"/>
              <a:t>每块物理</a:t>
            </a:r>
            <a:r>
              <a:rPr lang="en-US" altLang="zh-CN" sz="1600" b="1" dirty="0"/>
              <a:t>buffer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o</a:t>
            </a:r>
            <a:r>
              <a:rPr lang="zh-CN" altLang="en-US" sz="1600" b="1" dirty="0"/>
              <a:t> </a:t>
            </a:r>
            <a:r>
              <a:rPr lang="en-US" altLang="zh-CN" sz="1600" b="1" dirty="0" err="1"/>
              <a:t>wnership</a:t>
            </a:r>
            <a:r>
              <a:rPr lang="zh-CN" altLang="en-US" sz="1600" b="1" dirty="0"/>
              <a:t>独立管理</a:t>
            </a:r>
            <a:r>
              <a:rPr lang="en-US" altLang="zh-CN" sz="1600" b="1" dirty="0"/>
              <a:t>)</a:t>
            </a:r>
          </a:p>
          <a:p>
            <a:endParaRPr lang="en-US" altLang="zh-CN" sz="1600" b="1" dirty="0"/>
          </a:p>
          <a:p>
            <a:r>
              <a:rPr lang="en-US" altLang="zh-CN" sz="1600" b="1" dirty="0"/>
              <a:t>MMAD(part0) </a:t>
            </a:r>
            <a:r>
              <a:rPr lang="zh-CN" altLang="en-US" sz="1600" b="1" dirty="0"/>
              <a:t>读 </a:t>
            </a:r>
            <a:r>
              <a:rPr lang="en-US" altLang="zh-CN" sz="1600" b="1" dirty="0"/>
              <a:t>stage0</a:t>
            </a:r>
          </a:p>
          <a:p>
            <a:endParaRPr lang="en-US" altLang="zh-CN" sz="1600" b="1" dirty="0"/>
          </a:p>
          <a:p>
            <a:r>
              <a:rPr lang="zh-CN" altLang="en-US" sz="1600" b="1" dirty="0"/>
              <a:t>同时</a:t>
            </a:r>
          </a:p>
          <a:p>
            <a:endParaRPr lang="zh-CN" altLang="en-US" sz="1600" b="1" dirty="0"/>
          </a:p>
          <a:p>
            <a:r>
              <a:rPr lang="en-US" altLang="zh-CN" sz="1600" b="1" dirty="0"/>
              <a:t>MTE1(part1) </a:t>
            </a:r>
            <a:r>
              <a:rPr lang="zh-CN" altLang="en-US" sz="1600" b="1" dirty="0"/>
              <a:t>写 </a:t>
            </a:r>
            <a:r>
              <a:rPr lang="en-US" altLang="zh-CN" sz="1600" b="1" dirty="0"/>
              <a:t>stage1</a:t>
            </a:r>
          </a:p>
          <a:p>
            <a:endParaRPr lang="en-US" altLang="zh-CN" sz="1600" b="1" dirty="0"/>
          </a:p>
          <a:p>
            <a:r>
              <a:rPr lang="zh-CN" altLang="en-US" dirty="0">
                <a:solidFill>
                  <a:srgbClr val="C00000"/>
                </a:solidFill>
              </a:rPr>
              <a:t>注意：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1. K=256</a:t>
            </a:r>
            <a:r>
              <a:rPr lang="zh-CN" altLang="en-US" dirty="0">
                <a:solidFill>
                  <a:srgbClr val="C00000"/>
                </a:solidFill>
              </a:rPr>
              <a:t>时，有</a:t>
            </a:r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个</a:t>
            </a:r>
            <a:r>
              <a:rPr lang="en-US" altLang="zh-CN" dirty="0">
                <a:solidFill>
                  <a:srgbClr val="C00000"/>
                </a:solidFill>
              </a:rPr>
              <a:t>part</a:t>
            </a:r>
            <a:r>
              <a:rPr lang="zh-CN" altLang="en-US" dirty="0">
                <a:solidFill>
                  <a:srgbClr val="C00000"/>
                </a:solidFill>
              </a:rPr>
              <a:t>，所以需要分出</a:t>
            </a:r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个独立的</a:t>
            </a:r>
            <a:r>
              <a:rPr lang="en-US" altLang="zh-CN" dirty="0">
                <a:solidFill>
                  <a:srgbClr val="C00000"/>
                </a:solidFill>
              </a:rPr>
              <a:t>stage</a:t>
            </a:r>
          </a:p>
          <a:p>
            <a:r>
              <a:rPr lang="en" altLang="zh-CN" dirty="0">
                <a:solidFill>
                  <a:srgbClr val="C00000"/>
                </a:solidFill>
              </a:rPr>
              <a:t>2. Task </a:t>
            </a:r>
            <a:r>
              <a:rPr lang="zh-CN" altLang="en-US" dirty="0">
                <a:solidFill>
                  <a:srgbClr val="C00000"/>
                </a:solidFill>
              </a:rPr>
              <a:t>边界显式结束 </a:t>
            </a:r>
            <a:r>
              <a:rPr lang="en" altLang="zh-CN" dirty="0">
                <a:solidFill>
                  <a:srgbClr val="C00000"/>
                </a:solidFill>
              </a:rPr>
              <a:t>L0 </a:t>
            </a:r>
            <a:r>
              <a:rPr lang="zh-CN" altLang="en-US" dirty="0">
                <a:solidFill>
                  <a:srgbClr val="C00000"/>
                </a:solidFill>
              </a:rPr>
              <a:t>的使用，并重新初始化 </a:t>
            </a:r>
            <a:r>
              <a:rPr lang="en" altLang="zh-CN" dirty="0">
                <a:solidFill>
                  <a:srgbClr val="C00000"/>
                </a:solidFill>
              </a:rPr>
              <a:t>ownership event (</a:t>
            </a:r>
            <a:r>
              <a:rPr lang="zh-CN" altLang="en" dirty="0">
                <a:solidFill>
                  <a:srgbClr val="C00000"/>
                </a:solidFill>
              </a:rPr>
              <a:t>否则</a:t>
            </a:r>
            <a:r>
              <a:rPr lang="zh-CN" altLang="en-US" dirty="0">
                <a:solidFill>
                  <a:srgbClr val="C00000"/>
                </a:solidFill>
              </a:rPr>
              <a:t>在长任务下会失效</a:t>
            </a:r>
            <a:r>
              <a:rPr lang="en" altLang="zh-CN" dirty="0">
                <a:solidFill>
                  <a:srgbClr val="C00000"/>
                </a:solidFill>
              </a:rPr>
              <a:t>)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sz="1600" b="1" dirty="0"/>
              <a:t>   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2428855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EF75D-0EFC-6E3B-D073-255B4C3B8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3024D08-BF3B-89EC-CA6E-CFC6AB6AB9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2AF59A2-FF5F-8678-2645-FC6D02B942A2}"/>
              </a:ext>
            </a:extLst>
          </p:cNvPr>
          <p:cNvSpPr txBox="1"/>
          <p:nvPr/>
        </p:nvSpPr>
        <p:spPr>
          <a:xfrm>
            <a:off x="443440" y="968511"/>
            <a:ext cx="5652560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、之前的任务分配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Round-Robin</a:t>
            </a:r>
          </a:p>
          <a:p>
            <a:r>
              <a:rPr lang="zh-CN" altLang="en-US" dirty="0"/>
              <a:t>假设：</a:t>
            </a:r>
            <a:r>
              <a:rPr lang="en" altLang="zh-CN" dirty="0" err="1"/>
              <a:t>N_chunk</a:t>
            </a:r>
            <a:r>
              <a:rPr lang="en" altLang="zh-CN" dirty="0"/>
              <a:t>​=8,</a:t>
            </a:r>
            <a:r>
              <a:rPr lang="zh-CN" altLang="en-US" dirty="0"/>
              <a:t> </a:t>
            </a:r>
            <a:r>
              <a:rPr lang="en" altLang="zh-CN" dirty="0"/>
              <a:t>Hg​=2,</a:t>
            </a:r>
            <a:r>
              <a:rPr lang="zh-CN" altLang="en-US" dirty="0"/>
              <a:t> </a:t>
            </a:r>
            <a:r>
              <a:rPr lang="en" altLang="zh-CN" dirty="0" err="1"/>
              <a:t>blockDim</a:t>
            </a:r>
            <a:r>
              <a:rPr lang="en" altLang="zh-CN" dirty="0"/>
              <a:t>=4</a:t>
            </a:r>
          </a:p>
          <a:p>
            <a:endParaRPr lang="en" altLang="zh-CN" sz="1600" b="1" dirty="0"/>
          </a:p>
          <a:p>
            <a:r>
              <a:rPr lang="zh-CN" altLang="en-US" sz="1600" b="1" dirty="0"/>
              <a:t>逻辑上的 </a:t>
            </a:r>
            <a:r>
              <a:rPr lang="en-US" altLang="zh-CN" sz="1600" b="1" dirty="0" err="1"/>
              <a:t>taskId</a:t>
            </a:r>
            <a:r>
              <a:rPr lang="en-US" altLang="zh-CN" sz="1600" b="1" dirty="0"/>
              <a:t>:</a:t>
            </a:r>
          </a:p>
          <a:p>
            <a:r>
              <a:rPr lang="en-US" altLang="zh-CN" sz="1600" b="1" dirty="0"/>
              <a:t>0      </a:t>
            </a:r>
            <a:r>
              <a:rPr lang="zh-CN" altLang="en-US" sz="1600" b="1" dirty="0"/>
              <a:t>     </a:t>
            </a:r>
            <a:r>
              <a:rPr lang="en-US" altLang="zh-CN" sz="1600" b="1" dirty="0"/>
              <a:t>1      </a:t>
            </a:r>
            <a:r>
              <a:rPr lang="zh-CN" altLang="en-US" sz="1600" b="1" dirty="0"/>
              <a:t>    </a:t>
            </a:r>
            <a:r>
              <a:rPr lang="en-US" altLang="zh-CN" sz="1600" b="1" dirty="0"/>
              <a:t>2      </a:t>
            </a:r>
            <a:r>
              <a:rPr lang="zh-CN" altLang="en-US" sz="1600" b="1" dirty="0"/>
              <a:t>      </a:t>
            </a:r>
            <a:r>
              <a:rPr lang="en-US" altLang="zh-CN" sz="1600" b="1" dirty="0"/>
              <a:t>3        …</a:t>
            </a:r>
          </a:p>
          <a:p>
            <a:r>
              <a:rPr lang="en-US" altLang="zh-CN" sz="1600" b="1" dirty="0"/>
              <a:t>C0H0   C0H1   C1H0   C1H1</a:t>
            </a:r>
          </a:p>
          <a:p>
            <a:endParaRPr lang="en-US" altLang="zh-CN" sz="1600" b="1" dirty="0"/>
          </a:p>
          <a:p>
            <a:r>
              <a:rPr lang="zh-CN" altLang="en-US" sz="1600" b="1" dirty="0"/>
              <a:t>原始分配</a:t>
            </a:r>
            <a:endParaRPr lang="en-US" altLang="zh-CN" sz="1600" b="1" dirty="0"/>
          </a:p>
          <a:p>
            <a:r>
              <a:rPr lang="en" altLang="zh-CN" sz="1600" b="1" dirty="0"/>
              <a:t>Group 0 : C0H0 → C2H0 → C4H0 → C6H0</a:t>
            </a:r>
          </a:p>
          <a:p>
            <a:r>
              <a:rPr lang="en" altLang="zh-CN" sz="1600" b="1" dirty="0"/>
              <a:t>Group 1 : C0H1 → C2H1 → C4H1 → C6H1</a:t>
            </a:r>
          </a:p>
          <a:p>
            <a:r>
              <a:rPr lang="en" altLang="zh-CN" sz="1600" b="1" dirty="0"/>
              <a:t>Group 2 : C1H0 → C3H0 → C5H0 → C7H0</a:t>
            </a:r>
          </a:p>
          <a:p>
            <a:r>
              <a:rPr lang="en" altLang="zh-CN" sz="1600" b="1" dirty="0"/>
              <a:t>Group 3 : C1H1 → C3H1 → C5H1 → C7H1</a:t>
            </a:r>
            <a:endParaRPr lang="zh-CN" altLang="en-US" sz="16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AE7A06-2462-F5B9-A3A0-340D97CF5431}"/>
              </a:ext>
            </a:extLst>
          </p:cNvPr>
          <p:cNvSpPr txBox="1"/>
          <p:nvPr/>
        </p:nvSpPr>
        <p:spPr>
          <a:xfrm>
            <a:off x="443440" y="4077054"/>
            <a:ext cx="5652560" cy="2831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、之后的任务分配</a:t>
            </a:r>
            <a:r>
              <a:rPr lang="en-US" altLang="zh-CN" dirty="0"/>
              <a:t>:</a:t>
            </a:r>
            <a:r>
              <a:rPr lang="zh-CN" altLang="en-US" dirty="0"/>
              <a:t> 连续性</a:t>
            </a:r>
            <a:endParaRPr lang="en-US" altLang="zh-CN" dirty="0"/>
          </a:p>
          <a:p>
            <a:endParaRPr lang="en" altLang="zh-CN" sz="1600" b="1" dirty="0"/>
          </a:p>
          <a:p>
            <a:r>
              <a:rPr lang="zh-CN" altLang="en-US" sz="1600" b="1" dirty="0"/>
              <a:t>物理内存上：</a:t>
            </a:r>
            <a:endParaRPr lang="en-US" altLang="zh-CN" sz="1600" b="1" dirty="0"/>
          </a:p>
          <a:p>
            <a:r>
              <a:rPr lang="en-US" altLang="zh-CN" sz="1600" b="1" dirty="0"/>
              <a:t>H0 : C0 → C1 → C2 → C3 → C4 → C5 → C6 → C7</a:t>
            </a:r>
          </a:p>
          <a:p>
            <a:r>
              <a:rPr lang="en-US" altLang="zh-CN" sz="1600" b="1" dirty="0"/>
              <a:t>H1 : C0 → C1 → C2 → C3 → C4 → C5 → C6 → C7</a:t>
            </a:r>
          </a:p>
          <a:p>
            <a:endParaRPr lang="en-US" altLang="zh-CN" sz="1600" b="1" dirty="0"/>
          </a:p>
          <a:p>
            <a:r>
              <a:rPr lang="zh-CN" altLang="en-US" sz="1600" b="1" dirty="0"/>
              <a:t>连续性分配</a:t>
            </a:r>
            <a:endParaRPr lang="en-US" altLang="zh-CN" sz="1600" b="1" dirty="0"/>
          </a:p>
          <a:p>
            <a:r>
              <a:rPr lang="en-US" altLang="zh-CN" sz="1600" b="1" dirty="0"/>
              <a:t>Group 0 : H0C0 → H0C1 → H0C2 → H0C3</a:t>
            </a:r>
          </a:p>
          <a:p>
            <a:r>
              <a:rPr lang="en-US" altLang="zh-CN" sz="1600" b="1" dirty="0"/>
              <a:t>Group 1 : H0C4 → H0C5 → H0C6 → H0C7</a:t>
            </a:r>
          </a:p>
          <a:p>
            <a:r>
              <a:rPr lang="en-US" altLang="zh-CN" sz="1600" b="1" dirty="0"/>
              <a:t>Group 2 : H1C0 → H1C1 → H1C2 → H1C3</a:t>
            </a:r>
          </a:p>
          <a:p>
            <a:r>
              <a:rPr lang="en-US" altLang="zh-CN" sz="1600" b="1" dirty="0"/>
              <a:t>Group 3 : H1C4 → H1C5 → H1C6 → H1C7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3CDE26-BBE1-2F32-0CFE-BD4B622C3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199" y="1650011"/>
            <a:ext cx="4889679" cy="3557978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CB7027AE-3D46-6869-46E6-FE1A0D9A16D4}"/>
              </a:ext>
            </a:extLst>
          </p:cNvPr>
          <p:cNvSpPr txBox="1">
            <a:spLocks/>
          </p:cNvSpPr>
          <p:nvPr/>
        </p:nvSpPr>
        <p:spPr>
          <a:xfrm>
            <a:off x="641443" y="262227"/>
            <a:ext cx="11060020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三、算子优化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V5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优化：任务分配优化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让同一组连续处理相邻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chunk</a:t>
            </a:r>
            <a:endParaRPr kumimoji="1" lang="zh-CN" altLang="en-US" sz="3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1381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18A1C-09D8-754D-BB71-565139800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14C8877-531C-9697-FAE0-5A713F762B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CF1ECEC-AE84-2CC9-D2EC-DFE2DEA8D15B}"/>
              </a:ext>
            </a:extLst>
          </p:cNvPr>
          <p:cNvSpPr txBox="1"/>
          <p:nvPr/>
        </p:nvSpPr>
        <p:spPr>
          <a:xfrm>
            <a:off x="682580" y="6333643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pic>
        <p:nvPicPr>
          <p:cNvPr id="2" name="图片 1" descr="图表&#10;&#10;AI 生成的内容可能不正确。">
            <a:extLst>
              <a:ext uri="{FF2B5EF4-FFF2-40B4-BE49-F238E27FC236}">
                <a16:creationId xmlns:a16="http://schemas.microsoft.com/office/drawing/2014/main" id="{9C747CAB-76E8-3B71-6919-EABDE7748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49" y="1269211"/>
            <a:ext cx="7772400" cy="431957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D3F4BEE-9F80-8414-8615-91D4E7C92A41}"/>
              </a:ext>
            </a:extLst>
          </p:cNvPr>
          <p:cNvSpPr txBox="1"/>
          <p:nvPr/>
        </p:nvSpPr>
        <p:spPr>
          <a:xfrm>
            <a:off x="682580" y="5859887"/>
            <a:ext cx="5413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从流水排列来看，基本已经到达极限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E7E6EF-1573-1528-9B3F-6805701CB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1" y="1269211"/>
            <a:ext cx="2514600" cy="13462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49308BD-9B74-3337-2001-123316D691BE}"/>
              </a:ext>
            </a:extLst>
          </p:cNvPr>
          <p:cNvSpPr txBox="1"/>
          <p:nvPr/>
        </p:nvSpPr>
        <p:spPr>
          <a:xfrm>
            <a:off x="8324849" y="2844514"/>
            <a:ext cx="38445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MTE3</a:t>
            </a:r>
            <a:r>
              <a:rPr kumimoji="1" lang="zh-CN" altLang="en-US" dirty="0"/>
              <a:t>的带宽仍然也只是极限的</a:t>
            </a:r>
            <a:r>
              <a:rPr kumimoji="1" lang="en-US" altLang="zh-CN" dirty="0"/>
              <a:t>11%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r>
              <a:rPr kumimoji="1" lang="zh-CN" altLang="en-US" dirty="0"/>
              <a:t>至少证明远没有打满</a:t>
            </a:r>
            <a:r>
              <a:rPr kumimoji="1" lang="en-US" altLang="zh-CN" dirty="0"/>
              <a:t>MTE3</a:t>
            </a:r>
            <a:r>
              <a:rPr kumimoji="1" lang="zh-CN" altLang="en-US" dirty="0"/>
              <a:t>的物理极限，但是</a:t>
            </a:r>
            <a:r>
              <a:rPr kumimoji="1" lang="en-US" altLang="zh-CN" dirty="0"/>
              <a:t>MTE3</a:t>
            </a:r>
            <a:r>
              <a:rPr kumimoji="1" lang="zh-CN" altLang="en-US" dirty="0"/>
              <a:t>不只受限于其本身，其数据依赖于</a:t>
            </a:r>
            <a:r>
              <a:rPr kumimoji="1" lang="en-US" altLang="zh-CN" dirty="0"/>
              <a:t>MTE2</a:t>
            </a:r>
            <a:r>
              <a:rPr kumimoji="1" lang="zh-CN" altLang="en-US" dirty="0"/>
              <a:t>的搬入和</a:t>
            </a:r>
            <a:r>
              <a:rPr kumimoji="1" lang="en-US" altLang="zh-CN" dirty="0"/>
              <a:t>Vector</a:t>
            </a:r>
            <a:r>
              <a:rPr kumimoji="1" lang="zh-CN" altLang="en-US" dirty="0"/>
              <a:t>的计算。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优化方向：进一步优化输出链路！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CE58608-A04E-56C3-33FE-96E114575D21}"/>
              </a:ext>
            </a:extLst>
          </p:cNvPr>
          <p:cNvSpPr txBox="1">
            <a:spLocks/>
          </p:cNvSpPr>
          <p:nvPr/>
        </p:nvSpPr>
        <p:spPr>
          <a:xfrm>
            <a:off x="641443" y="262227"/>
            <a:ext cx="11060020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四、瓶颈分析：是否达到极限</a:t>
            </a:r>
          </a:p>
        </p:txBody>
      </p:sp>
    </p:spTree>
    <p:extLst>
      <p:ext uri="{BB962C8B-B14F-4D97-AF65-F5344CB8AC3E}">
        <p14:creationId xmlns:p14="http://schemas.microsoft.com/office/powerpoint/2010/main" val="1735004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68C5F-5E2B-3263-FA29-89114419A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460B630-BE1E-480D-D5E7-8C9A287D80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4513617-FAB5-AE21-4518-0CD240CA5378}"/>
              </a:ext>
            </a:extLst>
          </p:cNvPr>
          <p:cNvSpPr txBox="1"/>
          <p:nvPr/>
        </p:nvSpPr>
        <p:spPr>
          <a:xfrm>
            <a:off x="682580" y="6145195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DAC98EC-C383-6AEB-17C1-DA77EDD5E52E}"/>
              </a:ext>
            </a:extLst>
          </p:cNvPr>
          <p:cNvSpPr txBox="1"/>
          <p:nvPr/>
        </p:nvSpPr>
        <p:spPr>
          <a:xfrm>
            <a:off x="682580" y="1990211"/>
            <a:ext cx="104045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1</a:t>
            </a:r>
            <a:r>
              <a:rPr kumimoji="1" lang="zh-CN" altLang="en-US" sz="2400" dirty="0"/>
              <a:t>、目前可能由于相关</a:t>
            </a:r>
            <a:r>
              <a:rPr kumimoji="1" lang="en-US" altLang="zh-CN" sz="2400" dirty="0"/>
              <a:t>CANN</a:t>
            </a:r>
            <a:r>
              <a:rPr kumimoji="1" lang="zh-CN" altLang="en-US" sz="2400" dirty="0"/>
              <a:t>赛事多，</a:t>
            </a:r>
            <a:r>
              <a:rPr kumimoji="1" lang="en-US" altLang="zh-CN" sz="2400" dirty="0"/>
              <a:t>CANNLAB</a:t>
            </a:r>
            <a:r>
              <a:rPr kumimoji="1" lang="zh-CN" altLang="en-US" sz="2400" dirty="0"/>
              <a:t>中的资源有些供不应求，大多时候没有真实的</a:t>
            </a:r>
            <a:r>
              <a:rPr kumimoji="1" lang="en-US" altLang="zh-CN" sz="2400" dirty="0"/>
              <a:t>NPU</a:t>
            </a:r>
            <a:r>
              <a:rPr kumimoji="1" lang="zh-CN" altLang="en-US" sz="2400" dirty="0"/>
              <a:t>卡能跑本地测试和</a:t>
            </a:r>
            <a:r>
              <a:rPr kumimoji="1" lang="en-US" altLang="zh-CN" sz="2400" dirty="0"/>
              <a:t>profile</a:t>
            </a:r>
            <a:r>
              <a:rPr kumimoji="1" lang="zh-CN" altLang="en-US" sz="2400" dirty="0"/>
              <a:t>，开发和优化相对困难。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/>
              <a:t>2</a:t>
            </a:r>
            <a:r>
              <a:rPr kumimoji="1" lang="zh-CN" altLang="en-US" sz="2400" dirty="0"/>
              <a:t>、是否有可能可以有 </a:t>
            </a:r>
            <a:r>
              <a:rPr kumimoji="1" lang="en-US" altLang="zh-CN" sz="2400" dirty="0"/>
              <a:t>ascend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</a:t>
            </a:r>
            <a:r>
              <a:rPr kumimoji="1" lang="zh-CN" altLang="en-US" sz="2400" dirty="0"/>
              <a:t>代码的对应的编译后的指令的文件，不然有时在优化的时候，有些灰盒（譬如我之前曾经做过删除</a:t>
            </a:r>
            <a:r>
              <a:rPr kumimoji="1" lang="en-US" altLang="zh-CN" sz="2400" dirty="0" err="1"/>
              <a:t>pipebarrier</a:t>
            </a:r>
            <a:r>
              <a:rPr kumimoji="1" lang="zh-CN" altLang="en-US" sz="2400" dirty="0"/>
              <a:t>的一些实验，有些可有可无的</a:t>
            </a:r>
            <a:r>
              <a:rPr kumimoji="1" lang="en-US" altLang="zh-CN" sz="2400" dirty="0" err="1"/>
              <a:t>pipebarrier</a:t>
            </a:r>
            <a:r>
              <a:rPr kumimoji="1" lang="zh-CN" altLang="en-US" sz="2400" dirty="0"/>
              <a:t>删除后有提速，有些则无；有些应该有数据依赖而不能删除的，删除后竟然无事发生，编译器对</a:t>
            </a:r>
            <a:r>
              <a:rPr kumimoji="1" lang="en-US" altLang="zh-CN" sz="2400" dirty="0"/>
              <a:t>ascend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</a:t>
            </a:r>
            <a:r>
              <a:rPr kumimoji="1" lang="zh-CN" altLang="en-US" sz="2400" dirty="0"/>
              <a:t>究竟做了什么，相对黑盒）</a:t>
            </a:r>
            <a:endParaRPr kumimoji="1" lang="en-US" altLang="zh-CN" sz="2400" dirty="0"/>
          </a:p>
          <a:p>
            <a:endParaRPr kumimoji="1" lang="zh-CN" altLang="en-US" sz="2400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BC508729-52A3-0227-426D-ADBA132F560E}"/>
              </a:ext>
            </a:extLst>
          </p:cNvPr>
          <p:cNvSpPr txBox="1">
            <a:spLocks/>
          </p:cNvSpPr>
          <p:nvPr/>
        </p:nvSpPr>
        <p:spPr>
          <a:xfrm>
            <a:off x="682580" y="571115"/>
            <a:ext cx="11060020" cy="680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五、一些个人反馈</a:t>
            </a:r>
          </a:p>
        </p:txBody>
      </p:sp>
    </p:spTree>
    <p:extLst>
      <p:ext uri="{BB962C8B-B14F-4D97-AF65-F5344CB8AC3E}">
        <p14:creationId xmlns:p14="http://schemas.microsoft.com/office/powerpoint/2010/main" val="1911044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4644" y="1208599"/>
            <a:ext cx="36086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>
                <a:latin typeface="HarmonyOS Sans SC" panose="00000500000000000000" pitchFamily="2" charset="-122"/>
                <a:ea typeface="HarmonyOS Sans SC" panose="00000500000000000000" pitchFamily="2" charset="-122"/>
                <a:cs typeface="Arial" panose="020B0604020202020204" pitchFamily="34" charset="0"/>
              </a:rPr>
              <a:t>Thank you.</a:t>
            </a:r>
            <a:endParaRPr lang="zh-CN" altLang="en-US" sz="5400" dirty="0">
              <a:latin typeface="HarmonyOS Sans SC" panose="00000500000000000000" pitchFamily="2" charset="-122"/>
              <a:ea typeface="HarmonyOS Sans SC" panose="00000500000000000000" pitchFamily="2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56392" y="5538463"/>
            <a:ext cx="1430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上</a:t>
            </a:r>
            <a:r>
              <a:rPr lang="en-US" altLang="zh-CN" sz="10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CANN</a:t>
            </a:r>
            <a:r>
              <a:rPr lang="zh-CN" altLang="en-US" sz="10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社区获取干货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741387" y="5538463"/>
            <a:ext cx="16866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关注</a:t>
            </a:r>
            <a:r>
              <a:rPr lang="en-US" altLang="zh-CN" sz="10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CANN</a:t>
            </a:r>
            <a:r>
              <a:rPr lang="zh-CN" altLang="en-US" sz="1000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公众号获取资讯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20201" y="6130454"/>
            <a:ext cx="16674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HarmonyOS Sans SC" panose="00000500000000000000" pitchFamily="2" charset="-122"/>
              <a:ea typeface="HarmonyOS Sans SC" panose="00000500000000000000" pitchFamily="2" charset="-122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584" y="3898269"/>
            <a:ext cx="1686679" cy="1686679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2342" y="3927220"/>
            <a:ext cx="1686678" cy="167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6855420" y="1208625"/>
            <a:ext cx="4699220" cy="226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fontAlgn="auto">
              <a:lnSpc>
                <a:spcPts val="194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鸿蒙黑体" panose="020B0500000000000000" pitchFamily="34" charset="-122"/>
                <a:ea typeface="鸿蒙黑体" panose="020B0500000000000000" pitchFamily="34" charset="-122"/>
                <a:cs typeface="微软雅黑" panose="020B0503020204020204" pitchFamily="34" charset="-122"/>
              </a:rPr>
              <a:t>社区愿景：打造开放易用、技术领先的AI算力新生态</a:t>
            </a:r>
          </a:p>
          <a:p>
            <a:pPr marR="0" lvl="0" indent="0" algn="l" defTabSz="914400" rtl="0" fontAlgn="auto">
              <a:lnSpc>
                <a:spcPts val="194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鸿蒙黑体" panose="020B0500000000000000" pitchFamily="34" charset="-122"/>
                <a:ea typeface="鸿蒙黑体" panose="020B0500000000000000" pitchFamily="34" charset="-122"/>
                <a:cs typeface="微软雅黑" panose="020B0503020204020204" pitchFamily="34" charset="-122"/>
              </a:rPr>
              <a:t>社区使命：以开源驱动技术创新，降低开发门槛，聚力构筑高性能昇腾 AI 算力底座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鸿蒙黑体" panose="020B0500000000000000" pitchFamily="34" charset="-122"/>
                <a:ea typeface="等线" panose="02010600030101010101" charset="-122"/>
                <a:cs typeface="Arial" panose="020B0604020202020204" pitchFamily="34" charset="0"/>
              </a:rPr>
              <a:t>Vision: Building an Open, Easy-to-Use, and Technology-leading AI Computing Ecosystem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鸿蒙黑体" panose="020B0500000000000000" pitchFamily="34" charset="-122"/>
                <a:ea typeface="等线" panose="02010600030101010101" charset="-122"/>
                <a:cs typeface="Arial" panose="020B0604020202020204" pitchFamily="34" charset="0"/>
              </a:rPr>
              <a:t>Mission: Drive technological innovation through open source, lower development barriers, and jointly build a high-performance Ascend AI computing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2679</Words>
  <Application>Microsoft Macintosh PowerPoint</Application>
  <PresentationFormat>宽屏</PresentationFormat>
  <Paragraphs>323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等线</vt:lpstr>
      <vt:lpstr>等线 Light</vt:lpstr>
      <vt:lpstr>鸿蒙黑体</vt:lpstr>
      <vt:lpstr>微软雅黑</vt:lpstr>
      <vt:lpstr>微软雅黑</vt:lpstr>
      <vt:lpstr>HarmonyOS Sans SC</vt:lpstr>
      <vt:lpstr>PingFang SC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aoxuejiao</dc:creator>
  <cp:lastModifiedBy>Runtian Zhao (SSE,124090988)</cp:lastModifiedBy>
  <cp:revision>25</cp:revision>
  <dcterms:created xsi:type="dcterms:W3CDTF">2025-09-28T06:19:41Z</dcterms:created>
  <dcterms:modified xsi:type="dcterms:W3CDTF">2026-09-11T08:21:08Z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3DDF482C71CEA81A27D3D8686004DB1C_42</vt:lpwstr>
  </property>
  <property fmtid="{D5CDD505-2E9C-101B-9397-08002B2CF9AE}" pid="3" name="KSOProductBuildVer">
    <vt:lpwstr>2052-12.1.2.22571</vt:lpwstr>
  </property>
</Properties>
</file>